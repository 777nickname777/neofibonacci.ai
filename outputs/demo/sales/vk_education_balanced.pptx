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 по месяцам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0077FF"/>
              </a:solidFill>
            </c:spPr>
          </c:dPt>
          <c:cat>
            <c:strRef>
              <c:f>Sheet1!$A$2:$A$4</c:f>
              <c:strCache>
                <c:ptCount val="3"/>
                <c:pt idx="0">
                  <c:v>июль</c:v>
                </c:pt>
                <c:pt idx="1">
                  <c:v>август</c:v>
                </c:pt>
                <c:pt idx="2">
                  <c:v>сентябрь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15.1</c:v>
                </c:pt>
                <c:pt idx="2">
                  <c:v>18.0</c:v>
                </c:pt>
              </c:numCache>
            </c:numRef>
          </c:val>
        </c:ser>
        <c:dLbls>
          <c:numFmt formatCode="[$-419]#,##0.0&quot; млн руб.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.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выручки по каналам продаж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FF3885"/>
              </a:solidFill>
            </c:spPr>
          </c:dPt>
          <c:dPt>
            <c:idx val="2"/>
            <c:spPr>
              <a:solidFill>
                <a:srgbClr val="3782BA"/>
              </a:solidFill>
            </c:spPr>
          </c:dPt>
          <c:dPt>
            <c:idx val="3"/>
            <c:spPr>
              <a:solidFill>
                <a:srgbClr val="00000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Продажи в зале</c:v>
                </c:pt>
                <c:pt idx="1">
                  <c:v>Доставка</c:v>
                </c:pt>
                <c:pt idx="2">
                  <c:v>Предзаказ в приложении</c:v>
                </c:pt>
                <c:pt idx="3">
                  <c:v>Корпоративные заказы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65.0</c:v>
                </c:pt>
                <c:pt idx="1">
                  <c:v>18.0</c:v>
                </c:pt>
                <c:pt idx="2">
                  <c:v>10.0</c:v>
                </c:pt>
                <c:pt idx="3">
                  <c:v>7.0</c:v>
                </c:pt>
              </c:numCache>
            </c:numRef>
          </c:val>
        </c:ser>
        <c:dLbls>
          <c:numFmt formatCode="[$-419]#,##0&quot; %&quot;" sourceLinked="0"/>
          <c:txPr>
            <a:bodyPr/>
            <a:lstStyle/>
            <a:p>
              <a:pPr>
                <a:defRPr sz="16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/>
          </a:pPr>
        </a:p>
      </c:txPr>
    </c:legend>
    <c:plotVisOnly val="1"/>
    <c:dispBlanksAs val="gap"/>
    <c:showDLblsOverMax val="0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Выполнение плана по городам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8193A7"/>
              </a:solidFill>
            </c:spPr>
          </c:dPt>
          <c:dPt>
            <c:idx val="2"/>
            <c:spPr>
              <a:solidFill>
                <a:srgbClr val="8193A7"/>
              </a:solidFill>
            </c:spPr>
          </c:dPt>
          <c:dPt>
            <c:idx val="3"/>
            <c:spPr>
              <a:solidFill>
                <a:srgbClr val="0077FF"/>
              </a:solidFill>
            </c:spPr>
          </c:dPt>
          <c:cat>
            <c:strRef>
              <c:f>Sheet1!$A$2:$A$5</c:f>
              <c:strCache>
                <c:ptCount val="4"/>
                <c:pt idx="0">
                  <c:v>Санкт-Петербург</c:v>
                </c:pt>
                <c:pt idx="1">
                  <c:v>Петрозаводск</c:v>
                </c:pt>
                <c:pt idx="2">
                  <c:v>Архангельск</c:v>
                </c:pt>
                <c:pt idx="3">
                  <c:v>Мурманск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112.0</c:v>
                </c:pt>
                <c:pt idx="1">
                  <c:v>104.0</c:v>
                </c:pt>
                <c:pt idx="2">
                  <c:v>98.0</c:v>
                </c:pt>
                <c:pt idx="3">
                  <c:v>87.0</c:v>
                </c:pt>
              </c:numCache>
            </c:numRef>
          </c:val>
        </c:ser>
        <c:dLbls>
          <c:numFmt formatCode="[$-419]#,##0&quot; %&quot;" sourceLinked="0"/>
          <c:txPr>
            <a:bodyPr wrap="none"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[$-419]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3.png"/><Relationship Id="rId3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237;p33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4800" b="1" i="0">
                <a:solidFill>
                  <a:srgbClr val="FFFFFF"/>
                </a:solidFill>
                <a:latin typeface="Arial"/>
              </a:rPr>
              <a:t>Итоги продаж сети «Северный кофе» за III квартал 2026 года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283;p4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Структура презентации</a:t>
            </a:r>
            <a:endParaRPr/>
          </a:p>
        </p:txBody>
      </p:sp>
      <p:sp>
        <p:nvSpPr>
          <p:cNvPr id="3" name="Google Shape;284;p40"/>
          <p:cNvSpPr/>
          <p:nvPr/>
        </p:nvSpPr>
        <p:spPr>
          <a:xfrm>
            <a:off x="677332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Ключевые финансовые показатели III квартала</a:t>
            </a:r>
            <a:endParaRPr/>
          </a:p>
        </p:txBody>
      </p:sp>
      <p:sp>
        <p:nvSpPr>
          <p:cNvPr id="4" name="Google Shape;285;p40"/>
          <p:cNvSpPr/>
          <p:nvPr/>
        </p:nvSpPr>
        <p:spPr>
          <a:xfrm>
            <a:off x="4334060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Динамика выручки и среднего чека по месяцам</a:t>
            </a:r>
            <a:endParaRPr/>
          </a:p>
        </p:txBody>
      </p:sp>
      <p:sp>
        <p:nvSpPr>
          <p:cNvPr id="5" name="Google Shape;286;p40"/>
          <p:cNvSpPr/>
          <p:nvPr/>
        </p:nvSpPr>
        <p:spPr>
          <a:xfrm>
            <a:off x="7990788" y="1773238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Анализ каналов продаж: зал, доставка, приложение</a:t>
            </a:r>
            <a:endParaRPr/>
          </a:p>
        </p:txBody>
      </p:sp>
      <p:sp>
        <p:nvSpPr>
          <p:cNvPr id="6" name="Google Shape;287;p40"/>
          <p:cNvSpPr/>
          <p:nvPr/>
        </p:nvSpPr>
        <p:spPr>
          <a:xfrm>
            <a:off x="677332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Региональная эффективность и выполнение плана</a:t>
            </a:r>
            <a:endParaRPr/>
          </a:p>
        </p:txBody>
      </p:sp>
      <p:sp>
        <p:nvSpPr>
          <p:cNvPr id="7" name="Google Shape;288;p40"/>
          <p:cNvSpPr/>
          <p:nvPr/>
        </p:nvSpPr>
        <p:spPr>
          <a:xfrm>
            <a:off x="4334060" y="4044294"/>
            <a:ext cx="354240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Стратегические планы на IV квартал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Выручка выросла на 12% до 47,3 млн руб.</a:t>
            </a:r>
            <a:endParaRPr/>
          </a:p>
        </p:txBody>
      </p:sp>
      <p:sp>
        <p:nvSpPr>
          <p:cNvPr id="14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endParaRPr/>
          </a:p>
        </p:txBody>
      </p:sp>
      <p:sp>
        <p:nvSpPr>
          <p:cNvPr id="15" name="Google Shape;451;p50"/>
          <p:cNvSpPr txBox="1"/>
          <p:nvPr/>
        </p:nvSpPr>
        <p:spPr>
          <a:xfrm>
            <a:off x="1134802" y="5213202"/>
            <a:ext cx="5417326" cy="1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0" i="0" sz="2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22258" y="2740903"/>
            <a:ext cx="5417327" cy="109690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0077FF"/>
                </a:solidFill>
                <a:latin typeface="Arial"/>
              </a:rPr>
              <a:t>Ключевые метрики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58" y="3837811"/>
            <a:ext cx="5417327" cy="13406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Выручка: 47,3 млн руб.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Рост к II кв.: 12%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Число чеков: 134 150</a:t>
            </a:r>
          </a:p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0077FF"/>
                </a:solidFill>
                <a:latin typeface="Arial"/>
              </a:rPr>
              <a:t>Средний чек: 353 руб.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5" name="Google Shape;541;p56"/>
          <p:cNvSpPr txBox="1"/>
          <p:nvPr>
            <p:ph idx="1" type="body"/>
          </p:nvPr>
        </p:nvSpPr>
        <p:spPr>
          <a:xfrm>
            <a:off x="677334" y="2603500"/>
            <a:ext cx="5304365" cy="359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2400" b="0" i="0">
                <a:solidFill>
                  <a:srgbClr val="000000"/>
                </a:solidFill>
                <a:latin typeface="Arial"/>
              </a:rPr>
              <a:t>Анализ роста</a:t>
            </a:r>
            <a:endParaRPr/>
          </a:p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000000"/>
                </a:solidFill>
                <a:latin typeface="Arial"/>
              </a:rPr>
              <a:t>Рост выручки обеспечен увеличением трафика, число чеков выросло быстрее среднего чека. Сентябрь стал главным драйвером роста благодаря сезонному меню и возвращению студентов.</a:t>
            </a:r>
          </a:p>
        </p:txBody>
      </p:sp>
      <p:sp>
        <p:nvSpPr>
          <p:cNvPr id="7" name="Google Shape;543;p5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Рост выручки за счёт увеличения числа чеков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Google Shape;406;p47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Выручка выросла с 14,2 до 18,0 млн руб.</a:t>
            </a:r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2645" y="2018030"/>
          <a:ext cx="10914616" cy="43106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Сентябрь стал месяцем пиковых продаж</a:t>
            </a:r>
            <a:endParaRPr/>
          </a:p>
        </p:txBody>
      </p:sp>
      <p:sp>
        <p:nvSpPr>
          <p:cNvPr id="3" name="Google Shape;888;p70"/>
          <p:cNvSpPr txBox="1"/>
          <p:nvPr>
            <p:ph idx="4294967295" type="body"/>
          </p:nvPr>
        </p:nvSpPr>
        <p:spPr>
          <a:xfrm>
            <a:off x="677863" y="1773238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5588" marL="25558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sz="1600" b="0" i="0">
                <a:solidFill>
                  <a:srgbClr val="000000"/>
                </a:solidFill>
                <a:latin typeface="Arial"/>
              </a:rPr>
              <a:t>«Сентябрь показал, что гости возвращаются, если меню меняется вместе с сезоном»</a:t>
            </a:r>
            <a:endParaRPr/>
          </a:p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000000"/>
                </a:solidFill>
                <a:latin typeface="Arial"/>
              </a:rPr>
              <a:t>— Анна Лебедева, операционный директор сети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29;p7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Зал дает 65%, доставка выросла на 41%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22645" y="1564991"/>
          <a:ext cx="10914616" cy="4763655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3" name="Google Shape;274;p39"/>
          <p:cNvSpPr/>
          <p:nvPr/>
        </p:nvSpPr>
        <p:spPr>
          <a:xfrm>
            <a:off x="671512" y="1773238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" name="Google Shape;275;p39"/>
          <p:cNvSpPr/>
          <p:nvPr/>
        </p:nvSpPr>
        <p:spPr>
          <a:xfrm>
            <a:off x="6154737" y="1775553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Доставка принесла 8,5 млн руб., что составляет 18% выручки.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" name="Google Shape;276;p39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Доставка принесла 8,5 млн руб. (+41%)</a:t>
            </a:r>
            <a:endParaRPr/>
          </a:p>
        </p:txBody>
      </p:sp>
      <p:sp>
        <p:nvSpPr>
          <p:cNvPr id="6" name="Google Shape;277;p39"/>
          <p:cNvSpPr/>
          <p:nvPr/>
        </p:nvSpPr>
        <p:spPr>
          <a:xfrm>
            <a:off x="671512" y="4044294"/>
            <a:ext cx="5365752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79388" marR="0" rtl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278;p39"/>
          <p:cNvSpPr/>
          <p:nvPr/>
        </p:nvSpPr>
        <p:spPr>
          <a:xfrm>
            <a:off x="6154737" y="4044294"/>
            <a:ext cx="5391150" cy="2156481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marL="17938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>
                <a:solidFill>
                  <a:srgbClr val="000000"/>
                </a:solidFill>
                <a:latin typeface="Arial"/>
              </a:rPr>
              <a:t>Рост канала составил 41% по сравнению с предыдущим кварталом.</a:t>
            </a:r>
            <a:endParaRPr b="0" i="0" sz="18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Предзаказ в приложении обогнал корпоративные заказы</a:t>
            </a:r>
            <a:endParaRPr/>
          </a:p>
        </p:txBody>
      </p:sp>
      <p:grpSp>
        <p:nvGrpSpPr>
          <p:cNvPr id="3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4" name="Google Shape;506;p54"/>
            <p:cNvSpPr txBox="1"/>
            <p:nvPr/>
          </p:nvSpPr>
          <p:spPr>
            <a:xfrm>
              <a:off x="2773153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5" name="Google Shape;507;p54"/>
            <p:cNvSpPr txBox="1"/>
            <p:nvPr/>
          </p:nvSpPr>
          <p:spPr>
            <a:xfrm>
              <a:off x="4947852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800" b="0" i="0">
                  <a:solidFill>
                    <a:srgbClr val="000000"/>
                  </a:solidFill>
                  <a:latin typeface="Arial"/>
                </a:rPr>
                <a:t>Корпоративные заказы составили 3,4 млн руб. (7% выручки).</a:t>
              </a:r>
              <a:endParaRPr/>
            </a:p>
          </p:txBody>
        </p:sp>
        <p:sp>
          <p:nvSpPr>
            <p:cNvPr id="6" name="Google Shape;508;p54"/>
            <p:cNvSpPr txBox="1"/>
            <p:nvPr/>
          </p:nvSpPr>
          <p:spPr>
            <a:xfrm>
              <a:off x="6973000" y="3260026"/>
              <a:ext cx="1803922" cy="1976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7" name="Google Shape;509;p54"/>
            <p:cNvSpPr txBox="1"/>
            <p:nvPr/>
          </p:nvSpPr>
          <p:spPr>
            <a:xfrm>
              <a:off x="9043247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800" b="0" i="0">
                  <a:solidFill>
                    <a:srgbClr val="000000"/>
                  </a:solidFill>
                  <a:latin typeface="Arial"/>
                </a:rPr>
                <a:t>Впервые доля предзаказа превысила долю корпоративных продаж.</a:t>
              </a:r>
              <a:endParaRPr/>
            </a:p>
          </p:txBody>
        </p:sp>
        <p:sp>
          <p:nvSpPr>
            <p:cNvPr id="8" name="Google Shape;510;p54"/>
            <p:cNvSpPr txBox="1"/>
            <p:nvPr/>
          </p:nvSpPr>
          <p:spPr>
            <a:xfrm>
              <a:off x="658813" y="3260026"/>
              <a:ext cx="1804769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800" b="0" i="0">
                  <a:solidFill>
                    <a:srgbClr val="000000"/>
                  </a:solidFill>
                  <a:latin typeface="Arial"/>
                </a:rPr>
                <a:t>Предзаказ в приложении принес 4,7 млн руб. (10% выручки).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1048;p8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 перевыполнил план на 12%, Мурманск отстал</a:t>
            </a:r>
            <a:endParaRPr/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58813" y="2018030"/>
          <a:ext cx="10855854" cy="41827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СПб: 26,6 млн руб., Петрозаводск: 9,8 млн руб.</a:t>
            </a:r>
            <a:endParaRPr/>
          </a:p>
        </p:txBody>
      </p:sp>
      <p:grpSp>
        <p:nvGrpSpPr>
          <p:cNvPr id="3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" name="Google Shape;492;p53"/>
            <p:cNvSpPr txBox="1"/>
            <p:nvPr/>
          </p:nvSpPr>
          <p:spPr>
            <a:xfrm>
              <a:off x="316557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Петрозаводск выполнил план на 104%, выручка 9,8 млн руб.</a:t>
              </a:r>
              <a:endParaRPr/>
            </a:p>
          </p:txBody>
        </p:sp>
        <p:sp>
          <p:nvSpPr>
            <p:cNvPr id="5" name="Google Shape;493;p53"/>
            <p:cNvSpPr txBox="1"/>
            <p:nvPr/>
          </p:nvSpPr>
          <p:spPr>
            <a:xfrm>
              <a:off x="5671541" y="3260026"/>
              <a:ext cx="2311424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Архангельск выполнил план на 98%, выручка 4,7 млн руб.</a:t>
              </a:r>
              <a:endParaRPr/>
            </a:p>
          </p:txBody>
        </p:sp>
        <p:sp>
          <p:nvSpPr>
            <p:cNvPr id="7" name="Google Shape;495;p53"/>
            <p:cNvSpPr txBox="1"/>
            <p:nvPr/>
          </p:nvSpPr>
          <p:spPr>
            <a:xfrm>
              <a:off x="658812" y="3260026"/>
              <a:ext cx="2312510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2000" b="0" i="0">
                  <a:solidFill>
                    <a:srgbClr val="000000"/>
                  </a:solidFill>
                  <a:latin typeface="Arial"/>
                </a:rPr>
                <a:t>Санкт-Петербург выполнил план на 112%, выручка 26,6 млн руб.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Мурманск: 87% плана из-за ремонта ТЦ</a:t>
            </a:r>
            <a:endParaRPr/>
          </a:p>
        </p:txBody>
      </p:sp>
      <p:sp>
        <p:nvSpPr>
          <p:cNvPr id="3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4" name="Google Shape;79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096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799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3052" y="260101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00;p60"/>
          <p:cNvSpPr txBox="1"/>
          <p:nvPr/>
        </p:nvSpPr>
        <p:spPr>
          <a:xfrm>
            <a:off x="658811" y="3279808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Мурманск выполнил план на 87%, выручка 6,2 млн руб.</a:t>
            </a:r>
            <a:endParaRPr/>
          </a:p>
        </p:txBody>
      </p:sp>
      <p:sp>
        <p:nvSpPr>
          <p:cNvPr id="8" name="Google Shape;801;p60"/>
          <p:cNvSpPr txBox="1"/>
          <p:nvPr/>
        </p:nvSpPr>
        <p:spPr>
          <a:xfrm>
            <a:off x="4385469" y="3273458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800" b="0" i="0">
                <a:solidFill>
                  <a:srgbClr val="000000"/>
                </a:solidFill>
                <a:latin typeface="Arial"/>
              </a:rPr>
              <a:t>Низкий результат связан с закрытием двух точек в ТЦ «Полярный» на ремонт.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2" name="Google Shape;504;p54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Запуск программы лояльности и удержание базы</a:t>
            </a:r>
            <a:endParaRPr/>
          </a:p>
        </p:txBody>
      </p:sp>
      <p:grpSp>
        <p:nvGrpSpPr>
          <p:cNvPr id="3" name="Google Shape;505;p54"/>
          <p:cNvGrpSpPr/>
          <p:nvPr/>
        </p:nvGrpSpPr>
        <p:grpSpPr>
          <a:xfrm>
            <a:off x="658813" y="2232530"/>
            <a:ext cx="11026909" cy="3299588"/>
            <a:chOff x="658813" y="2232530"/>
            <a:chExt cx="10188356" cy="3048668"/>
          </a:xfrm>
        </p:grpSpPr>
        <p:sp>
          <p:nvSpPr>
            <p:cNvPr id="4" name="Google Shape;506;p54"/>
            <p:cNvSpPr txBox="1"/>
            <p:nvPr/>
          </p:nvSpPr>
          <p:spPr>
            <a:xfrm>
              <a:off x="2773153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5" name="Google Shape;507;p54"/>
            <p:cNvSpPr txBox="1"/>
            <p:nvPr/>
          </p:nvSpPr>
          <p:spPr>
            <a:xfrm>
              <a:off x="4947852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Удержание текущей базы гостей персональными предложениями.</a:t>
              </a:r>
              <a:endParaRPr/>
            </a:p>
          </p:txBody>
        </p:sp>
        <p:sp>
          <p:nvSpPr>
            <p:cNvPr id="6" name="Google Shape;508;p54"/>
            <p:cNvSpPr txBox="1"/>
            <p:nvPr/>
          </p:nvSpPr>
          <p:spPr>
            <a:xfrm>
              <a:off x="6973000" y="3260026"/>
              <a:ext cx="1803922" cy="1976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endParaRPr/>
            </a:p>
          </p:txBody>
        </p:sp>
        <p:sp>
          <p:nvSpPr>
            <p:cNvPr id="7" name="Google Shape;509;p54"/>
            <p:cNvSpPr txBox="1"/>
            <p:nvPr/>
          </p:nvSpPr>
          <p:spPr>
            <a:xfrm>
              <a:off x="9043247" y="3260026"/>
              <a:ext cx="1803922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Пересмотр условий для корпоративных клиентов.</a:t>
              </a:r>
              <a:endParaRPr/>
            </a:p>
          </p:txBody>
        </p:sp>
        <p:sp>
          <p:nvSpPr>
            <p:cNvPr id="8" name="Google Shape;510;p54"/>
            <p:cNvSpPr txBox="1"/>
            <p:nvPr/>
          </p:nvSpPr>
          <p:spPr>
            <a:xfrm>
              <a:off x="658813" y="3260026"/>
              <a:ext cx="1804769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rmAutofit/>
            </a:bodyPr>
            <a:lstStyle/>
            <a:p>
              <a:pPr indent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sz="1700" b="0" i="0">
                  <a:solidFill>
                    <a:srgbClr val="000000"/>
                  </a:solidFill>
                  <a:latin typeface="Arial"/>
                </a:rPr>
                <a:t>Запуск программы лояльности в приложении.</a:t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sz="3600" b="1" i="0">
                <a:solidFill>
                  <a:srgbClr val="0077FF"/>
                </a:solidFill>
                <a:latin typeface="Arial"/>
              </a:rPr>
              <a:t>Открытие двух точек в Мурманске</a:t>
            </a:r>
            <a:endParaRPr/>
          </a:p>
        </p:txBody>
      </p:sp>
      <p:sp>
        <p:nvSpPr>
          <p:cNvPr id="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sz="1700" b="0" i="0">
                <a:solidFill>
                  <a:srgbClr val="000000"/>
                </a:solidFill>
                <a:latin typeface="Arial"/>
              </a:rPr>
              <a:t>В IV квартале откроются две точки в Мурманске после ремонта ТЦ «Полярный».</a:t>
            </a:r>
            <a:endParaRPr/>
          </a:p>
        </p:txBody>
      </p:sp>
      <p:pic>
        <p:nvPicPr>
          <p:cNvPr id="1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5469" y="256230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7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93394" y="277022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Google Shape;1096;p87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sz="4400" b="1" i="0">
                <a:solidFill>
                  <a:srgbClr val="000000"/>
                </a:solidFill>
                <a:latin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