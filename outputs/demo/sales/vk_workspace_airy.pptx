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D3E3"/>
              </a:solidFill>
            </c:spPr>
          </c:dPt>
          <c:dPt>
            <c:idx val="2"/>
            <c:spPr>
              <a:solidFill>
                <a:srgbClr val="00AEE8"/>
              </a:solidFill>
            </c:spPr>
          </c:dPt>
          <c:dPt>
            <c:idx val="3"/>
            <c:spPr>
              <a:solidFill>
                <a:srgbClr val="EB425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70C3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30.7</c:v>
                </c:pt>
                <c:pt idx="1">
                  <c:v>8.5</c:v>
                </c:pt>
                <c:pt idx="2">
                  <c:v>4.7</c:v>
                </c:pt>
                <c:pt idx="3">
                  <c:v>3.4</c:v>
                </c:pt>
              </c:numCache>
            </c:numRef>
          </c:val>
        </c:ser>
        <c:dLbls>
          <c:numFmt formatCode="[$-419]#,##0.0&quot; млн руб.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697E96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Мурманск</c:v>
                </c:pt>
                <c:pt idx="3">
                  <c:v>Архангельск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26.6</c:v>
                </c:pt>
                <c:pt idx="1">
                  <c:v>9.8</c:v>
                </c:pt>
                <c:pt idx="2">
                  <c:v>6.2</c:v>
                </c:pt>
                <c:pt idx="3">
                  <c:v>4.7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выручки на 12% к II кварталу обеспечен увеличением трафика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Сентябрь показал лучший результат благодаря сезонному меню и студентам (f6).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Парадокс: рост выручки за счет трафика, а не чека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зале 30,7 млн руб. (f7). Доставка выросла на 41% (f8). Предзаказ обогнал корпоратив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доставки на 41% к II кварталу (f8).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Впервые предзаказ в приложении (4,7 млн) превысил корпоративные заказы (3,4 млн)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СПб выполнил план на 112% (f10). Мурманск на 87% из-за ремонта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Недовыполнение плана в Мурманске связано с ремонтом двух точек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Цитата операционного директора Анны Лебедевой (q1).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запускается программа лояльности (f12) и пересмотр условий для корпоративных клиентов (f13).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откроются две точки в Мурманске после ремонта ТЦ (f14).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Итоги продаж сети «Северный кофе» за III квартал 2026 года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Структура презентации</a:t>
            </a:r>
            <a:endParaRPr/>
          </a:p>
        </p:txBody>
      </p:sp>
      <p:sp>
        <p:nvSpPr>
          <p:cNvPr id="3" name="Google Shape;424;p20"/>
          <p:cNvSpPr txBox="1"/>
          <p:nvPr/>
        </p:nvSpPr>
        <p:spPr>
          <a:xfrm>
            <a:off x="6830705" y="2116408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Общие финансовые итоги</a:t>
            </a:r>
            <a:endParaRPr/>
          </a:p>
        </p:txBody>
      </p:sp>
      <p:sp>
        <p:nvSpPr>
          <p:cNvPr id="4" name="Google Shape;425;p20"/>
          <p:cNvSpPr/>
          <p:nvPr/>
        </p:nvSpPr>
        <p:spPr>
          <a:xfrm>
            <a:off x="5916189" y="2116410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4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2303678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20"/>
          <p:cNvSpPr txBox="1"/>
          <p:nvPr/>
        </p:nvSpPr>
        <p:spPr>
          <a:xfrm>
            <a:off x="6830705" y="3075476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Динамика по месяцам</a:t>
            </a:r>
            <a:endParaRPr/>
          </a:p>
        </p:txBody>
      </p:sp>
      <p:sp>
        <p:nvSpPr>
          <p:cNvPr id="7" name="Google Shape;428;p20"/>
          <p:cNvSpPr/>
          <p:nvPr/>
        </p:nvSpPr>
        <p:spPr>
          <a:xfrm>
            <a:off x="5916189" y="307547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326274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30;p20"/>
          <p:cNvSpPr txBox="1"/>
          <p:nvPr/>
        </p:nvSpPr>
        <p:spPr>
          <a:xfrm>
            <a:off x="6830705" y="4047606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Каналы продаж</a:t>
            </a:r>
            <a:endParaRPr/>
          </a:p>
        </p:txBody>
      </p:sp>
      <p:sp>
        <p:nvSpPr>
          <p:cNvPr id="10" name="Google Shape;431;p20"/>
          <p:cNvSpPr/>
          <p:nvPr/>
        </p:nvSpPr>
        <p:spPr>
          <a:xfrm>
            <a:off x="5916189" y="4047607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43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4234875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433;p20"/>
          <p:cNvSpPr txBox="1"/>
          <p:nvPr/>
        </p:nvSpPr>
        <p:spPr>
          <a:xfrm>
            <a:off x="6830705" y="5033027"/>
            <a:ext cx="4680000" cy="67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География и планы</a:t>
            </a:r>
            <a:endParaRPr/>
          </a:p>
        </p:txBody>
      </p:sp>
      <p:sp>
        <p:nvSpPr>
          <p:cNvPr id="13" name="Google Shape;434;p20"/>
          <p:cNvSpPr/>
          <p:nvPr/>
        </p:nvSpPr>
        <p:spPr>
          <a:xfrm>
            <a:off x="5916189" y="5033028"/>
            <a:ext cx="678239" cy="678239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4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3457" y="5220296"/>
            <a:ext cx="303703" cy="303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Google Shape;799;p40"/>
          <p:cNvPicPr preferRelativeResize="0"/>
          <p:nvPr/>
        </p:nvPicPr>
        <p:blipFill rotWithShape="1">
          <a:blip r:embed="rId2">
            <a:alphaModFix/>
          </a:blip>
          <a:srcRect b="12714" l="0" r="50023" t="66636"/>
          <a:stretch/>
        </p:blipFill>
        <p:spPr>
          <a:xfrm>
            <a:off x="794" y="5443140"/>
            <a:ext cx="6093175" cy="14148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00;p40"/>
          <p:cNvSpPr/>
          <p:nvPr/>
        </p:nvSpPr>
        <p:spPr>
          <a:xfrm>
            <a:off x="1" y="5894615"/>
            <a:ext cx="4487332" cy="9633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01;p40"/>
          <p:cNvSpPr/>
          <p:nvPr/>
        </p:nvSpPr>
        <p:spPr>
          <a:xfrm>
            <a:off x="4487333" y="5248804"/>
            <a:ext cx="1608667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02;p40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Выручка выросла на 12% до 47,3 млн руб.</a:t>
            </a:r>
            <a:endParaRPr b="1" sz="6600"/>
          </a:p>
        </p:txBody>
      </p:sp>
      <p:sp>
        <p:nvSpPr>
          <p:cNvPr id="7" name="Google Shape;803;p40"/>
          <p:cNvSpPr/>
          <p:nvPr/>
        </p:nvSpPr>
        <p:spPr>
          <a:xfrm>
            <a:off x="7772400" y="1498563"/>
            <a:ext cx="3485318" cy="3485318"/>
          </a:xfrm>
          <a:prstGeom prst="roundRect">
            <a:avLst>
              <a:gd fmla="val 8631" name="adj"/>
            </a:avLst>
          </a:prstGeom>
          <a:solidFill>
            <a:schemeClr val="lt1"/>
          </a:solidFill>
          <a:ln cap="flat" cmpd="sng" w="12700">
            <a:solidFill>
              <a:srgbClr val="00326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Play"/>
              </a:rPr>
              <a:t>47,3 млн руб.</a:t>
            </a:r>
            <a:endParaRPr/>
          </a:p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Play"/>
              </a:rPr>
              <a:t>12% рост</a:t>
            </a:r>
          </a:p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Play"/>
              </a:rPr>
              <a:t>134 150 чеков</a:t>
            </a:r>
          </a:p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Play"/>
              </a:rPr>
              <a:t>353 руб. средний чек</a:t>
            </a:r>
          </a:p>
        </p:txBody>
      </p:sp>
      <p:sp>
        <p:nvSpPr>
          <p:cNvPr id="8" name="Google Shape;804;p40"/>
          <p:cNvSpPr/>
          <p:nvPr/>
        </p:nvSpPr>
        <p:spPr>
          <a:xfrm>
            <a:off x="429254" y="3937561"/>
            <a:ext cx="2645228" cy="7511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Рост обеспечен трафиком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" name="Google Shape;80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0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64179">
            <a:off x="6268133" y="2670334"/>
            <a:ext cx="4113929" cy="3938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Сентябрь стал драйвером роста выручки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Рост числа чеков и среднего чека</a:t>
            </a: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Число чеков по месяцам, чеков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Средний чек по месяцам, руб.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июль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41 380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343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август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43 050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351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сентябрь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49 720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362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Продажи в зале — 65% выручки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Доставка выросла на 41% к прошлому кварталу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E4E7EA"/>
                </a:solidFill>
                <a:latin typeface="Play"/>
              </a:rPr>
              <a:t>Ключевой драйвер роста онлайн-каналов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Предзаказ в приложении обогнал корпоративные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Play"/>
              </a:rPr>
              <a:t>4,7 млн руб. приложение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Play"/>
              </a:rPr>
              <a:t>3,4 млн руб. корпоратив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Санкт-Петербург выполнил план на 112%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Мурманск выполнил план на 87% из-за ремонта</a:t>
            </a:r>
            <a:endParaRPr/>
          </a:p>
        </p:txBody>
      </p:sp>
      <p:sp>
        <p:nvSpPr>
          <p:cNvPr id="5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63;p22"/>
          <p:cNvSpPr txBox="1"/>
          <p:nvPr/>
        </p:nvSpPr>
        <p:spPr>
          <a:xfrm>
            <a:off x="596659" y="3258988"/>
            <a:ext cx="3057144" cy="1932513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E4E7EA"/>
                </a:solidFill>
                <a:latin typeface="Play"/>
              </a:rPr>
              <a:t>Ремонт двух точек в ТЦ «Полярный»</a:t>
            </a:r>
            <a:endParaRPr/>
          </a:p>
        </p:txBody>
      </p:sp>
      <p:pic>
        <p:nvPicPr>
          <p:cNvPr id="7" name="Google Shape;46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691;p32"/>
          <p:cNvSpPr/>
          <p:nvPr/>
        </p:nvSpPr>
        <p:spPr>
          <a:xfrm>
            <a:off x="427866" y="1971330"/>
            <a:ext cx="3435150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692;p32"/>
          <p:cNvSpPr/>
          <p:nvPr/>
        </p:nvSpPr>
        <p:spPr>
          <a:xfrm>
            <a:off x="427866" y="1971329"/>
            <a:ext cx="3435150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93;p32"/>
          <p:cNvSpPr/>
          <p:nvPr/>
        </p:nvSpPr>
        <p:spPr>
          <a:xfrm>
            <a:off x="590229" y="2182506"/>
            <a:ext cx="3129499" cy="152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  <p:sp>
        <p:nvSpPr>
          <p:cNvPr id="6" name="Google Shape;694;p32"/>
          <p:cNvSpPr/>
          <p:nvPr/>
        </p:nvSpPr>
        <p:spPr>
          <a:xfrm>
            <a:off x="590229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endParaRPr/>
          </a:p>
        </p:txBody>
      </p:sp>
      <p:sp>
        <p:nvSpPr>
          <p:cNvPr id="15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Меню меняется вместе с сезоном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программы лояльности в приложении</a:t>
            </a:r>
            <a:endParaRPr/>
          </a:p>
        </p:txBody>
      </p:sp>
      <p:sp>
        <p:nvSpPr>
          <p:cNvPr id="3" name="Google Shape;859;p43"/>
          <p:cNvSpPr txBox="1"/>
          <p:nvPr/>
        </p:nvSpPr>
        <p:spPr>
          <a:xfrm>
            <a:off x="429253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Запуск лояльности в приложении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60;p43"/>
          <p:cNvSpPr txBox="1"/>
          <p:nvPr/>
        </p:nvSpPr>
        <p:spPr>
          <a:xfrm>
            <a:off x="3319410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Пересмотр условий для B2B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63;p43"/>
          <p:cNvSpPr txBox="1"/>
          <p:nvPr/>
        </p:nvSpPr>
        <p:spPr>
          <a:xfrm>
            <a:off x="429254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864;p43"/>
          <p:cNvSpPr txBox="1"/>
          <p:nvPr/>
        </p:nvSpPr>
        <p:spPr>
          <a:xfrm>
            <a:off x="3314958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2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3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Открытие двух точек в Мурманске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>
                <a:solidFill>
                  <a:srgbClr val="70C3FF"/>
                </a:solidFill>
                <a:latin typeface="Play"/>
              </a:rPr>
              <a:t>Открытие точек после ремонта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6000" b="1" i="0">
                <a:solidFill>
                  <a:srgbClr val="FFFFFF"/>
                </a:solidFill>
                <a:latin typeface="Play"/>
              </a:rPr>
              <a:t>Спасибо за внимание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