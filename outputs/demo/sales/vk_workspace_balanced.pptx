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697E96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15.1</c:v>
                </c:pt>
                <c:pt idx="2">
                  <c:v>18.0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8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70C3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каналам продаж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D3E3"/>
              </a:solidFill>
            </c:spPr>
          </c:dPt>
          <c:dPt>
            <c:idx val="2"/>
            <c:spPr>
              <a:solidFill>
                <a:srgbClr val="00AEE8"/>
              </a:solidFill>
            </c:spPr>
          </c:dPt>
          <c:dPt>
            <c:idx val="3"/>
            <c:spPr>
              <a:solidFill>
                <a:srgbClr val="EB4250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70C3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4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Продажи в зале</c:v>
                </c:pt>
                <c:pt idx="1">
                  <c:v>Доставка</c:v>
                </c:pt>
                <c:pt idx="2">
                  <c:v>Предзаказ в приложении</c:v>
                </c:pt>
                <c:pt idx="3">
                  <c:v>Корпоративные заказы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30.7</c:v>
                </c:pt>
                <c:pt idx="1">
                  <c:v>8.5</c:v>
                </c:pt>
                <c:pt idx="2">
                  <c:v>4.7</c:v>
                </c:pt>
                <c:pt idx="3">
                  <c:v>3.4</c:v>
                </c:pt>
              </c:numCache>
            </c:numRef>
          </c:val>
        </c:ser>
        <c:dLbls>
          <c:numFmt formatCode="[$-419]#,##0.0&quot; млн руб.&quot;" sourceLinked="0"/>
          <c:txPr>
            <a:bodyPr/>
            <a:lstStyle/>
            <a:p>
              <a:pPr>
                <a:defRPr sz="14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70C3FF"/>
          </a:solidFill>
          <a:latin typeface="Play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городам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697E96"/>
              </a:solidFill>
            </c:spPr>
          </c:dPt>
          <c:dPt>
            <c:idx val="2"/>
            <c:spPr>
              <a:solidFill>
                <a:srgbClr val="697E96"/>
              </a:solidFill>
            </c:spPr>
          </c:dPt>
          <c:dPt>
            <c:idx val="3"/>
            <c:spPr>
              <a:solidFill>
                <a:srgbClr val="0077FF"/>
              </a:solidFill>
            </c:spPr>
          </c:dPt>
          <c:cat>
            <c:strRef>
              <c:f>Sheet1!$A$2:$A$5</c:f>
              <c:strCache>
                <c:ptCount val="4"/>
                <c:pt idx="0">
                  <c:v>Санкт-Петербург</c:v>
                </c:pt>
                <c:pt idx="1">
                  <c:v>Петрозаводск</c:v>
                </c:pt>
                <c:pt idx="2">
                  <c:v>Мурманск</c:v>
                </c:pt>
                <c:pt idx="3">
                  <c:v>Архангельск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26.6</c:v>
                </c:pt>
                <c:pt idx="1">
                  <c:v>9.8</c:v>
                </c:pt>
                <c:pt idx="2">
                  <c:v>6.2</c:v>
                </c:pt>
                <c:pt idx="3">
                  <c:v>4.7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70C3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Рост выручки на 12% к II кварталу обеспечен увеличением трафика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Сентябрь показал лучший результат благодаря сезонному меню и студентам (f6).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Парадокс: рост выручки за счет трафика, а не чека (f5).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зале 30,7 млн руб. (f7). Доставка выросла на 41% (f8). Предзаказ обогнал корпоратив (f9).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Рост доставки на 41% к II кварталу (f8).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Впервые предзаказ в приложении (4,7 млн) превысил корпоративные заказы (3,4 млн) (f9).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СПб выполнил план на 112% (f10). Мурманск на 87% из-за ремонта (f11).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Недовыполнение плана в Мурманске связано с ремонтом двух точек (f11).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Цитата операционного директора Анны Лебедевой (q1).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IV квартале запускается программа лояльности (f12) и пересмотр условий для корпоративных клиентов (f13).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IV квартале откроются две точки в Мурманске после ремонта ТЦ (f14).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Итоги продаж сети «Северный кофе» за III квартал 2026 года</a:t>
            </a:r>
            <a:endParaRPr sz="4800"/>
          </a:p>
        </p:txBody>
      </p:sp>
      <p:sp>
        <p:nvSpPr>
          <p:cNvPr id="3" name="Google Shape;382;p17"/>
          <p:cNvSpPr/>
          <p:nvPr/>
        </p:nvSpPr>
        <p:spPr>
          <a:xfrm>
            <a:off x="429254" y="4682210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 u="none" cap="none" strike="noStrike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58;p4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Структура презентации</a:t>
            </a:r>
            <a:endParaRPr/>
          </a:p>
        </p:txBody>
      </p:sp>
      <p:sp>
        <p:nvSpPr>
          <p:cNvPr id="3" name="Google Shape;859;p43"/>
          <p:cNvSpPr txBox="1"/>
          <p:nvPr/>
        </p:nvSpPr>
        <p:spPr>
          <a:xfrm>
            <a:off x="429253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Общие финансовые итоги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" name="Google Shape;860;p43"/>
          <p:cNvSpPr txBox="1"/>
          <p:nvPr/>
        </p:nvSpPr>
        <p:spPr>
          <a:xfrm>
            <a:off x="3319410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Динамика по месяцам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61;p43"/>
          <p:cNvSpPr txBox="1"/>
          <p:nvPr/>
        </p:nvSpPr>
        <p:spPr>
          <a:xfrm>
            <a:off x="6209568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Каналы продаж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" name="Google Shape;862;p43"/>
          <p:cNvSpPr txBox="1"/>
          <p:nvPr/>
        </p:nvSpPr>
        <p:spPr>
          <a:xfrm>
            <a:off x="9099725" y="3899453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География и планы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863;p43"/>
          <p:cNvSpPr txBox="1"/>
          <p:nvPr/>
        </p:nvSpPr>
        <p:spPr>
          <a:xfrm>
            <a:off x="429254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864;p43"/>
          <p:cNvSpPr txBox="1"/>
          <p:nvPr/>
        </p:nvSpPr>
        <p:spPr>
          <a:xfrm>
            <a:off x="3314958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865;p43"/>
          <p:cNvSpPr txBox="1"/>
          <p:nvPr/>
        </p:nvSpPr>
        <p:spPr>
          <a:xfrm>
            <a:off x="6200662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" name="Google Shape;866;p43"/>
          <p:cNvSpPr txBox="1"/>
          <p:nvPr/>
        </p:nvSpPr>
        <p:spPr>
          <a:xfrm>
            <a:off x="9098242" y="2794729"/>
            <a:ext cx="1767681" cy="89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6600"/>
              <a:buFont typeface="Play"/>
              <a:buNone/>
            </a:pPr>
            <a:r>
              <a:rPr b="1" i="0" lang="ru-RU" sz="66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>04</a:t>
            </a:r>
            <a:endParaRPr b="1" i="0" sz="6600">
              <a:solidFill>
                <a:srgbClr val="0077FF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11" name="Google Shape;867;p43"/>
          <p:cNvCxnSpPr>
            <a:stCxn id="863" idx="3"/>
          </p:cNvCxnSpPr>
          <p:nvPr/>
        </p:nvCxnSpPr>
        <p:spPr>
          <a:xfrm>
            <a:off x="2196935" y="3242978"/>
            <a:ext cx="877500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2" name="Google Shape;868;p43"/>
          <p:cNvCxnSpPr/>
          <p:nvPr/>
        </p:nvCxnSpPr>
        <p:spPr>
          <a:xfrm>
            <a:off x="5082639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13" name="Google Shape;869;p43"/>
          <p:cNvCxnSpPr/>
          <p:nvPr/>
        </p:nvCxnSpPr>
        <p:spPr>
          <a:xfrm>
            <a:off x="7992094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Google Shape;799;p40"/>
          <p:cNvPicPr preferRelativeResize="0"/>
          <p:nvPr/>
        </p:nvPicPr>
        <p:blipFill rotWithShape="1">
          <a:blip r:embed="rId2">
            <a:alphaModFix/>
          </a:blip>
          <a:srcRect b="12714" l="0" r="50023" t="66636"/>
          <a:stretch/>
        </p:blipFill>
        <p:spPr>
          <a:xfrm>
            <a:off x="794" y="5443140"/>
            <a:ext cx="6093175" cy="14148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00;p40"/>
          <p:cNvSpPr/>
          <p:nvPr/>
        </p:nvSpPr>
        <p:spPr>
          <a:xfrm>
            <a:off x="1" y="5894615"/>
            <a:ext cx="4487332" cy="96338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01;p40"/>
          <p:cNvSpPr/>
          <p:nvPr/>
        </p:nvSpPr>
        <p:spPr>
          <a:xfrm>
            <a:off x="4487333" y="5248804"/>
            <a:ext cx="1608667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02;p40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Play"/>
              <a:buNone/>
            </a:pPr>
            <a:r>
              <a:rPr sz="4000" b="1" i="0">
                <a:solidFill>
                  <a:srgbClr val="FFFFFF"/>
                </a:solidFill>
                <a:latin typeface="Play"/>
              </a:rPr>
              <a:t>Выручка выросла на 12% до 47,3 млн руб.</a:t>
            </a:r>
            <a:endParaRPr b="1" sz="6600"/>
          </a:p>
        </p:txBody>
      </p:sp>
      <p:sp>
        <p:nvSpPr>
          <p:cNvPr id="7" name="Google Shape;803;p40"/>
          <p:cNvSpPr/>
          <p:nvPr/>
        </p:nvSpPr>
        <p:spPr>
          <a:xfrm>
            <a:off x="7772400" y="1498563"/>
            <a:ext cx="3485318" cy="3485318"/>
          </a:xfrm>
          <a:prstGeom prst="roundRect">
            <a:avLst>
              <a:gd fmla="val 8631" name="adj"/>
            </a:avLst>
          </a:prstGeom>
          <a:solidFill>
            <a:schemeClr val="lt1"/>
          </a:solidFill>
          <a:ln cap="flat" cmpd="sng" w="12700">
            <a:solidFill>
              <a:srgbClr val="00326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000000"/>
                </a:solidFill>
                <a:latin typeface="Play"/>
              </a:rPr>
              <a:t>47,3 млн руб.</a:t>
            </a:r>
            <a:endParaRPr/>
          </a:p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000000"/>
                </a:solidFill>
                <a:latin typeface="Play"/>
              </a:rPr>
              <a:t>12% рост</a:t>
            </a:r>
          </a:p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000000"/>
                </a:solidFill>
                <a:latin typeface="Play"/>
              </a:rPr>
              <a:t>134 150 чеков</a:t>
            </a:r>
          </a:p>
          <a:p>
            <a:pPr algn="ctr">
              <a:lnSpc>
                <a:spcPct val="100000"/>
              </a:lnSpc>
            </a:pPr>
            <a:r>
              <a:rPr sz="2400" b="0" i="0">
                <a:solidFill>
                  <a:srgbClr val="000000"/>
                </a:solidFill>
                <a:latin typeface="Play"/>
              </a:rPr>
              <a:t>353 руб. средний чек</a:t>
            </a:r>
          </a:p>
        </p:txBody>
      </p:sp>
      <p:sp>
        <p:nvSpPr>
          <p:cNvPr id="8" name="Google Shape;804;p40"/>
          <p:cNvSpPr/>
          <p:nvPr/>
        </p:nvSpPr>
        <p:spPr>
          <a:xfrm>
            <a:off x="429254" y="3937561"/>
            <a:ext cx="2645228" cy="751114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Play"/>
              </a:rPr>
              <a:t>Рост обеспечен трафиком</a:t>
            </a: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" name="Google Shape;80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80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664179">
            <a:off x="6268133" y="2670334"/>
            <a:ext cx="4113929" cy="3938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Сентябрь стал драйвером роста выручки</a:t>
            </a:r>
            <a:endParaRPr/>
          </a:p>
        </p:txBody>
      </p:sp>
      <p:sp>
        <p:nvSpPr>
          <p:cNvPr id="5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9484" y="1820863"/>
          <a:ext cx="11330286" cy="445094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Рост числа чеков и среднего чека</a:t>
            </a:r>
            <a:endParaRPr/>
          </a:p>
        </p:txBody>
      </p:sp>
      <p:sp>
        <p:nvSpPr>
          <p:cNvPr id="4" name="Google Shape;711;p33"/>
          <p:cNvSpPr txBox="1"/>
          <p:nvPr/>
        </p:nvSpPr>
        <p:spPr>
          <a:xfrm>
            <a:off x="6316808" y="3598223"/>
            <a:ext cx="4739119" cy="2589746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484" y="1820863"/>
          <a:ext cx="11330286" cy="2377440"/>
        </p:xfrm>
        <a:graphic>
          <a:graphicData uri="http://schemas.openxmlformats.org/drawingml/2006/table">
            <a:tbl>
              <a:tblPr firstRow="1"/>
              <a:tblGrid>
                <a:gridCol w="3776762"/>
                <a:gridCol w="3776762"/>
                <a:gridCol w="3776762"/>
              </a:tblGrid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lay"/>
                        </a:rPr>
                        <a:t>Число чеков по месяцам, чеков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lay"/>
                        </a:rPr>
                        <a:t>Средний чек по месяцам, руб.</a:t>
                      </a:r>
                    </a:p>
                  </a:txBody>
                  <a:tcPr anchor="ctr">
                    <a:solidFill>
                      <a:srgbClr val="0077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июль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41 380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343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7EA"/>
                          </a:solidFill>
                          <a:latin typeface="Play"/>
                        </a:rPr>
                        <a:t>август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7EA"/>
                          </a:solidFill>
                          <a:latin typeface="Play"/>
                        </a:rPr>
                        <a:t>43 050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E4E7EA"/>
                          </a:solidFill>
                          <a:latin typeface="Play"/>
                        </a:rPr>
                        <a:t>351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сентябрь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49 720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77FF"/>
                          </a:solidFill>
                          <a:latin typeface="Play"/>
                        </a:rPr>
                        <a:t>362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49;p37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Продажи в зале — 65% выручки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484" y="1431024"/>
          <a:ext cx="11330286" cy="45679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Доставка выросла на 41% к прошлому кварталу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70C3FF"/>
                </a:solidFill>
                <a:latin typeface="Play"/>
              </a:rPr>
              <a:t>Ключевой драйвер роста онлайн-каналов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Предзаказ в приложении обогнал корпоративные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0" i="0">
                <a:solidFill>
                  <a:srgbClr val="FFFFFF"/>
                </a:solidFill>
                <a:latin typeface="Play"/>
              </a:rPr>
              <a:t>4,7 млн руб. приложение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FFFFFF"/>
                </a:solidFill>
                <a:latin typeface="Play"/>
              </a:rPr>
              <a:t>3,4 млн руб. корпоратив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49;p37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Санкт-Петербург выполнил план на 112%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29484" y="1431024"/>
          <a:ext cx="11330286" cy="456794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Google Shape;691;p32"/>
          <p:cNvSpPr/>
          <p:nvPr/>
        </p:nvSpPr>
        <p:spPr>
          <a:xfrm>
            <a:off x="427866" y="1971330"/>
            <a:ext cx="3435150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692;p32"/>
          <p:cNvSpPr/>
          <p:nvPr/>
        </p:nvSpPr>
        <p:spPr>
          <a:xfrm>
            <a:off x="427866" y="1971329"/>
            <a:ext cx="3435150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693;p32"/>
          <p:cNvSpPr/>
          <p:nvPr/>
        </p:nvSpPr>
        <p:spPr>
          <a:xfrm>
            <a:off x="590229" y="2182506"/>
            <a:ext cx="3129499" cy="152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FFFFFF"/>
                </a:solidFill>
                <a:latin typeface="Play"/>
              </a:rPr>
              <a:t>Ремонт двух точек в ТЦ «Полярный»</a:t>
            </a:r>
            <a:endParaRPr/>
          </a:p>
        </p:txBody>
      </p:sp>
      <p:sp>
        <p:nvSpPr>
          <p:cNvPr id="6" name="Google Shape;694;p32"/>
          <p:cNvSpPr/>
          <p:nvPr/>
        </p:nvSpPr>
        <p:spPr>
          <a:xfrm>
            <a:off x="590229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endParaRPr/>
          </a:p>
        </p:txBody>
      </p:sp>
      <p:sp>
        <p:nvSpPr>
          <p:cNvPr id="15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Мурманск выполнил план на 87% из-за ремонта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Меню меняется вместе с сезоном</a:t>
            </a:r>
            <a:endParaRPr/>
          </a:p>
        </p:txBody>
      </p:sp>
      <p:sp>
        <p:nvSpPr>
          <p:cNvPr id="5" name="Google Shape;681;p31"/>
          <p:cNvSpPr/>
          <p:nvPr/>
        </p:nvSpPr>
        <p:spPr>
          <a:xfrm>
            <a:off x="427864" y="1837067"/>
            <a:ext cx="3636000" cy="2022006"/>
          </a:xfrm>
          <a:prstGeom prst="roundRect">
            <a:avLst>
              <a:gd fmla="val 632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7200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E4E7EA"/>
                </a:solidFill>
                <a:latin typeface="Play"/>
              </a:rPr>
              <a:t>«Сентябрь показал, что гости возвращаются, если меню меняется вместе с сезоном»</a:t>
            </a:r>
            <a:endParaRPr/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4E7EA"/>
                </a:solidFill>
                <a:latin typeface="Play"/>
              </a:rPr>
              <a:t>— Анна Лебедева, операционный директор сети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Запуск программы лояльности в приложении</a:t>
            </a:r>
            <a:endParaRPr/>
          </a:p>
        </p:txBody>
      </p:sp>
      <p:sp>
        <p:nvSpPr>
          <p:cNvPr id="3" name="Google Shape;840;p42"/>
          <p:cNvSpPr txBox="1"/>
          <p:nvPr/>
        </p:nvSpPr>
        <p:spPr>
          <a:xfrm>
            <a:off x="429253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Запуск лояльности в приложении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" name="Google Shape;841;p42"/>
          <p:cNvSpPr txBox="1"/>
          <p:nvPr/>
        </p:nvSpPr>
        <p:spPr>
          <a:xfrm>
            <a:off x="3319410" y="3650071"/>
            <a:ext cx="2645228" cy="59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sz="1800" b="0" i="0">
                <a:solidFill>
                  <a:srgbClr val="FFFFFF"/>
                </a:solidFill>
                <a:latin typeface="Play"/>
              </a:rPr>
              <a:t>Пересмотр условий для B2B</a:t>
            </a:r>
            <a:endParaRPr b="0" i="0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cxnSp>
        <p:nvCxnSpPr>
          <p:cNvPr id="7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" name="Google Shape;845;p42"/>
          <p:cNvSpPr/>
          <p:nvPr/>
        </p:nvSpPr>
        <p:spPr>
          <a:xfrm>
            <a:off x="1678105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846;p42"/>
          <p:cNvSpPr/>
          <p:nvPr/>
        </p:nvSpPr>
        <p:spPr>
          <a:xfrm>
            <a:off x="4566961" y="3339632"/>
            <a:ext cx="147523" cy="147523"/>
          </a:xfrm>
          <a:prstGeom prst="ellipse">
            <a:avLst/>
          </a:prstGeom>
          <a:solidFill>
            <a:srgbClr val="0077FF"/>
          </a:solidFill>
          <a:ln cap="flat" cmpd="sng" w="2857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49;p42"/>
          <p:cNvSpPr/>
          <p:nvPr/>
        </p:nvSpPr>
        <p:spPr>
          <a:xfrm>
            <a:off x="935850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" name="Google Shape;850;p42"/>
          <p:cNvSpPr/>
          <p:nvPr/>
        </p:nvSpPr>
        <p:spPr>
          <a:xfrm>
            <a:off x="3750944" y="2600695"/>
            <a:ext cx="1779556" cy="5496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077FF"/>
              </a:gs>
              <a:gs pos="100000">
                <a:srgbClr val="00AEE8"/>
              </a:gs>
            </a:gsLst>
            <a:lin ang="18900000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FFFFFF"/>
                </a:solidFill>
                <a:latin typeface="Play"/>
              </a:rPr>
              <a:t>Открытие двух точек в Мурманске</a:t>
            </a:r>
            <a:endParaRPr/>
          </a:p>
        </p:txBody>
      </p:sp>
      <p:sp>
        <p:nvSpPr>
          <p:cNvPr id="4" name="Google Shape;720;p34"/>
          <p:cNvSpPr txBox="1"/>
          <p:nvPr/>
        </p:nvSpPr>
        <p:spPr>
          <a:xfrm>
            <a:off x="429253" y="1773238"/>
            <a:ext cx="3879511" cy="3166268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0" i="0">
                <a:solidFill>
                  <a:srgbClr val="70C3FF"/>
                </a:solidFill>
                <a:latin typeface="Play"/>
              </a:rPr>
              <a:t>Открытие точек после ремонта</a:t>
            </a:r>
            <a:endParaRPr sz="18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80;p4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5400" b="1" i="0">
                <a:solidFill>
                  <a:srgbClr val="FFFFFF"/>
                </a:solidFill>
                <a:latin typeface="Play"/>
              </a:rPr>
              <a:t>Спасибо за внимание</a:t>
            </a:r>
            <a:endParaRPr/>
          </a:p>
        </p:txBody>
      </p:sp>
      <p:sp>
        <p:nvSpPr>
          <p:cNvPr id="3" name="Google Shape;881;p45"/>
          <p:cNvSpPr/>
          <p:nvPr/>
        </p:nvSpPr>
        <p:spPr>
          <a:xfrm>
            <a:off x="429254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82;p45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883;p45"/>
          <p:cNvSpPr/>
          <p:nvPr/>
        </p:nvSpPr>
        <p:spPr>
          <a:xfrm>
            <a:off x="3499026" y="4567907"/>
            <a:ext cx="834282" cy="834282"/>
          </a:xfrm>
          <a:prstGeom prst="ellipse">
            <a:avLst/>
          </a:prstGeom>
          <a:solidFill>
            <a:srgbClr val="5A67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84;p45"/>
          <p:cNvSpPr txBox="1"/>
          <p:nvPr/>
        </p:nvSpPr>
        <p:spPr>
          <a:xfrm>
            <a:off x="4580031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885;p45"/>
          <p:cNvSpPr/>
          <p:nvPr/>
        </p:nvSpPr>
        <p:spPr>
          <a:xfrm>
            <a:off x="9282341" y="633414"/>
            <a:ext cx="2501672" cy="2501672"/>
          </a:xfrm>
          <a:prstGeom prst="roundRect">
            <a:avLst>
              <a:gd fmla="val 132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