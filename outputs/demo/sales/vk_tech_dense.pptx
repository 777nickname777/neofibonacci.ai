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чеков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41380.0</c:v>
                </c:pt>
                <c:pt idx="1">
                  <c:v>43050.0</c:v>
                </c:pt>
                <c:pt idx="2">
                  <c:v>49720.0</c:v>
                </c:pt>
              </c:numCache>
            </c:numRef>
          </c:val>
        </c:ser>
        <c:dLbls>
          <c:numFmt formatCode="[$-419]#,##0&quot; чеков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343.0</c:v>
                </c:pt>
                <c:pt idx="1">
                  <c:v>351.0</c:v>
                </c:pt>
                <c:pt idx="2">
                  <c:v>362.0</c:v>
                </c:pt>
              </c:numCache>
            </c:numRef>
          </c:val>
        </c:ser>
        <c:dLbls>
          <c:numFmt formatCode="[$-419]#,##0&quot; руб.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каналов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5EFF"/>
              </a:solidFill>
            </c:spPr>
          </c:dPt>
          <c:dPt>
            <c:idx val="2"/>
            <c:spPr>
              <a:solidFill>
                <a:srgbClr val="007DEA"/>
              </a:solidFill>
            </c:spPr>
          </c:dPt>
          <c:dPt>
            <c:idx val="3"/>
            <c:spPr>
              <a:solidFill>
                <a:srgbClr val="001515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3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35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50"/>
          </a:pPr>
        </a:p>
      </c:txPr>
    </c:legend>
    <c:plotVisOnly val="1"/>
    <c:dispBlanksAs val="gap"/>
    <c:showDLblsOverMax val="0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7B8DA3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9.png"/><Relationship Id="rId3" Type="http://schemas.openxmlformats.org/officeDocument/2006/relationships/image" Target="../media/image147.png"/><Relationship Id="rId4" Type="http://schemas.openxmlformats.org/officeDocument/2006/relationships/image" Target="../media/image151.png"/><Relationship Id="rId5" Type="http://schemas.openxmlformats.org/officeDocument/2006/relationships/image" Target="../media/image146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Relationship Id="rId8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72.png"/><Relationship Id="rId8" Type="http://schemas.openxmlformats.org/officeDocument/2006/relationships/image" Target="../media/image57.png"/><Relationship Id="rId9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9.png"/><Relationship Id="rId3" Type="http://schemas.openxmlformats.org/officeDocument/2006/relationships/image" Target="../media/image125.png"/><Relationship Id="rId4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Ключевые финансовые показатели III квартала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Анализ каналов продаж и географии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78;p55"/>
          <p:cNvSpPr/>
          <p:nvPr/>
        </p:nvSpPr>
        <p:spPr>
          <a:xfrm>
            <a:off x="4772001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Драйверы роста и сезонные факторы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683;p55"/>
          <p:cNvSpPr/>
          <p:nvPr/>
        </p:nvSpPr>
        <p:spPr>
          <a:xfrm>
            <a:off x="6938927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Стратегия и план действий на IV квартал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Структура презентации: итоги и планы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4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Выручка выросла на 12% до 47,3 млн руб.</a:t>
            </a:r>
            <a:endParaRPr/>
          </a:p>
        </p:txBody>
      </p:sp>
      <p:sp>
        <p:nvSpPr>
          <p:cNvPr id="6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3234" y="1664110"/>
            <a:ext cx="4320556" cy="77828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000000"/>
                </a:solidFill>
                <a:latin typeface="Play"/>
              </a:rPr>
              <a:t>Рост выручки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34" y="2442392"/>
            <a:ext cx="4320556" cy="951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8" b="0" i="0">
                <a:solidFill>
                  <a:srgbClr val="000000"/>
                </a:solidFill>
                <a:latin typeface="Play"/>
              </a:rPr>
              <a:t>+12% к II кварталу</a:t>
            </a:r>
          </a:p>
          <a:p>
            <a:pPr algn="l">
              <a:lnSpc>
                <a:spcPct val="100000"/>
              </a:lnSpc>
            </a:pPr>
            <a:r>
              <a:rPr sz="1688" b="0" i="0">
                <a:solidFill>
                  <a:srgbClr val="000000"/>
                </a:solidFill>
                <a:latin typeface="Play"/>
              </a:rPr>
              <a:t>47,3 млн руб. за III кв.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Выручка росла каждый месяц квартала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Google Shape;966;p63"/>
          <p:cNvSpPr/>
          <p:nvPr/>
        </p:nvSpPr>
        <p:spPr>
          <a:xfrm>
            <a:off x="685797" y="1474640"/>
            <a:ext cx="3957838" cy="75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Пробито 134 150 чеков за квартал</a:t>
            </a:r>
            <a:endParaRPr b="0" i="0" sz="2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Рост обеспечен увеличением трафика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2372;p8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Средний чек вырос до 353 руб.</a:t>
            </a:r>
            <a:endParaRPr/>
          </a:p>
        </p:txBody>
      </p:sp>
      <p:sp>
        <p:nvSpPr>
          <p:cNvPr id="21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0;p58"/>
          <p:cNvSpPr/>
          <p:nvPr/>
        </p:nvSpPr>
        <p:spPr>
          <a:xfrm>
            <a:off x="438148" y="1590803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Доставка: +41% к прошлому кварталу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85;p58"/>
          <p:cNvSpPr/>
          <p:nvPr/>
        </p:nvSpPr>
        <p:spPr>
          <a:xfrm>
            <a:off x="3327380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Предзаказ в приложении &gt; корпоративные заказы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90;p58"/>
          <p:cNvSpPr/>
          <p:nvPr/>
        </p:nvSpPr>
        <p:spPr>
          <a:xfrm>
            <a:off x="6216621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Доля зала: 65% выручки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Доставка выросла на 41%, предзаказ обогнал корпоративные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Доля каналов продаж: зал лидирует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6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036;p65"/>
          <p:cNvSpPr/>
          <p:nvPr/>
        </p:nvSpPr>
        <p:spPr>
          <a:xfrm>
            <a:off x="476248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3" b="0" i="0">
                <a:solidFill>
                  <a:srgbClr val="000000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1013" b="0" i="0">
                <a:solidFill>
                  <a:srgbClr val="000000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  <p:sp>
        <p:nvSpPr>
          <p:cNvPr id="13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14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42;p65"/>
          <p:cNvSpPr/>
          <p:nvPr/>
        </p:nvSpPr>
        <p:spPr>
          <a:xfrm>
            <a:off x="3365479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Play"/>
              </a:rPr>
              <a:t>Сезонное меню и студенты обеспечили пик продаж в сентябре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descr=" " id="20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Сентябрь стал главным драйвером роста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263;p8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СПб выполнил план на 112%, Мурманск на 87%</a:t>
            </a:r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59;p66"/>
          <p:cNvSpPr/>
          <p:nvPr/>
        </p:nvSpPr>
        <p:spPr>
          <a:xfrm>
            <a:off x="4048160" y="486418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Запуск программы лояльности в приложении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3;p66"/>
          <p:cNvSpPr/>
          <p:nvPr/>
        </p:nvSpPr>
        <p:spPr>
          <a:xfrm>
            <a:off x="4048160" y="1672317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Пересмотр условий для корпоративных клиентов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67;p66"/>
          <p:cNvSpPr/>
          <p:nvPr/>
        </p:nvSpPr>
        <p:spPr>
          <a:xfrm>
            <a:off x="4048160" y="2858216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Открытие двух точек в Мурманске после ремонта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 b="1" i="0">
                <a:solidFill>
                  <a:srgbClr val="000000"/>
                </a:solidFill>
                <a:latin typeface="Play"/>
              </a:rPr>
              <a:t>План на IV квартал: лояльность и новые точки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Утвердить план действий на IV квартал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