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 по месяцам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8193A7"/>
              </a:solidFill>
            </c:spPr>
          </c:dPt>
          <c:dPt>
            <c:idx val="2"/>
            <c:spPr>
              <a:solidFill>
                <a:srgbClr val="0077FF"/>
              </a:solidFill>
            </c:spPr>
          </c:dPt>
          <c:cat>
            <c:strRef>
              <c:f>Sheet1!$A$2:$A$4</c:f>
              <c:strCache>
                <c:ptCount val="3"/>
                <c:pt idx="0">
                  <c:v>июль</c:v>
                </c:pt>
                <c:pt idx="1">
                  <c:v>август</c:v>
                </c:pt>
                <c:pt idx="2">
                  <c:v>сентябрь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14.2</c:v>
                </c:pt>
                <c:pt idx="1">
                  <c:v>15.1</c:v>
                </c:pt>
                <c:pt idx="2">
                  <c:v>18.0</c:v>
                </c:pt>
              </c:numCache>
            </c:numRef>
          </c:val>
        </c:ser>
        <c:dLbls>
          <c:numFmt formatCode="[$-419]#,##0.0&quot; млн руб.&quot;" sourceLinked="0"/>
          <c:txPr>
            <a:bodyPr wrap="none"/>
            <a:lstStyle/>
            <a:p>
              <a:pPr>
                <a:defRPr sz="16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.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выручки по каналам продаж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FF3885"/>
              </a:solidFill>
            </c:spPr>
          </c:dPt>
          <c:dPt>
            <c:idx val="2"/>
            <c:spPr>
              <a:solidFill>
                <a:srgbClr val="3782BA"/>
              </a:solidFill>
            </c:spPr>
          </c:dPt>
          <c:dPt>
            <c:idx val="3"/>
            <c:spPr>
              <a:solidFill>
                <a:srgbClr val="000000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6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6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6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16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Продажи в зале</c:v>
                </c:pt>
                <c:pt idx="1">
                  <c:v>Доставка</c:v>
                </c:pt>
                <c:pt idx="2">
                  <c:v>Предзаказ в приложении</c:v>
                </c:pt>
                <c:pt idx="3">
                  <c:v>Корпоративные заказы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65.0</c:v>
                </c:pt>
                <c:pt idx="1">
                  <c:v>18.0</c:v>
                </c:pt>
                <c:pt idx="2">
                  <c:v>10.0</c:v>
                </c:pt>
                <c:pt idx="3">
                  <c:v>7.0</c:v>
                </c:pt>
              </c:numCache>
            </c:numRef>
          </c:val>
        </c:ser>
        <c:dLbls>
          <c:numFmt formatCode="[$-419]#,##0&quot; %&quot;" sourceLinked="0"/>
          <c:txPr>
            <a:bodyPr/>
            <a:lstStyle/>
            <a:p>
              <a:pPr>
                <a:defRPr sz="16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600"/>
          </a:pPr>
        </a:p>
      </c:txPr>
    </c:legend>
    <c:plotVisOnly val="1"/>
    <c:dispBlanksAs val="gap"/>
    <c:showDLblsOverMax val="0"/>
  </c:chart>
  <c:txPr>
    <a:bodyPr/>
    <a:lstStyle/>
    <a:p>
      <a:pPr>
        <a:defRPr sz="1600">
          <a:solidFill>
            <a:srgbClr val="000000"/>
          </a:solidFill>
          <a:latin typeface="Arial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Выполнение плана по городам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8193A7"/>
              </a:solidFill>
            </c:spPr>
          </c:dPt>
          <c:dPt>
            <c:idx val="2"/>
            <c:spPr>
              <a:solidFill>
                <a:srgbClr val="8193A7"/>
              </a:solidFill>
            </c:spPr>
          </c:dPt>
          <c:dPt>
            <c:idx val="3"/>
            <c:spPr>
              <a:solidFill>
                <a:srgbClr val="0077FF"/>
              </a:solidFill>
            </c:spPr>
          </c:dPt>
          <c:cat>
            <c:strRef>
              <c:f>Sheet1!$A$2:$A$5</c:f>
              <c:strCache>
                <c:ptCount val="4"/>
                <c:pt idx="0">
                  <c:v>Санкт-Петербург</c:v>
                </c:pt>
                <c:pt idx="1">
                  <c:v>Петрозаводск</c:v>
                </c:pt>
                <c:pt idx="2">
                  <c:v>Архангельск</c:v>
                </c:pt>
                <c:pt idx="3">
                  <c:v>Мурманск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112.0</c:v>
                </c:pt>
                <c:pt idx="1">
                  <c:v>104.0</c:v>
                </c:pt>
                <c:pt idx="2">
                  <c:v>98.0</c:v>
                </c:pt>
                <c:pt idx="3">
                  <c:v>87.0</c:v>
                </c:pt>
              </c:numCache>
            </c:numRef>
          </c:val>
        </c:ser>
        <c:dLbls>
          <c:numFmt formatCode="[$-419]#,##0&quot; %&quot;" sourceLinked="0"/>
          <c:txPr>
            <a:bodyPr wrap="none"/>
            <a:lstStyle/>
            <a:p>
              <a:pPr>
                <a:defRPr sz="16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6.png"/><Relationship Id="rId3" Type="http://schemas.openxmlformats.org/officeDocument/2006/relationships/image" Target="../media/image248.png"/><Relationship Id="rId4" Type="http://schemas.openxmlformats.org/officeDocument/2006/relationships/image" Target="../media/image247.png"/><Relationship Id="rId5" Type="http://schemas.openxmlformats.org/officeDocument/2006/relationships/image" Target="../media/image249.png"/><Relationship Id="rId6" Type="http://schemas.openxmlformats.org/officeDocument/2006/relationships/image" Target="../media/image250.png"/><Relationship Id="rId7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3.png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5.png"/><Relationship Id="rId3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Google Shape;237;p33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4800" b="1" i="0">
                <a:solidFill>
                  <a:srgbClr val="FFFFFF"/>
                </a:solidFill>
                <a:latin typeface="Arial"/>
              </a:rPr>
              <a:t>Итоги продаж сети «Северный кофе» за III квартал 2026 года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Google Shape;283;p4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Структура презентации</a:t>
            </a:r>
            <a:endParaRPr/>
          </a:p>
        </p:txBody>
      </p:sp>
      <p:sp>
        <p:nvSpPr>
          <p:cNvPr id="3" name="Google Shape;284;p40"/>
          <p:cNvSpPr/>
          <p:nvPr/>
        </p:nvSpPr>
        <p:spPr>
          <a:xfrm>
            <a:off x="677332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Ключевые финансовые показатели III квартала</a:t>
            </a:r>
            <a:endParaRPr/>
          </a:p>
        </p:txBody>
      </p:sp>
      <p:sp>
        <p:nvSpPr>
          <p:cNvPr id="4" name="Google Shape;285;p40"/>
          <p:cNvSpPr/>
          <p:nvPr/>
        </p:nvSpPr>
        <p:spPr>
          <a:xfrm>
            <a:off x="4334060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Динамика выручки и среднего чека по месяцам</a:t>
            </a:r>
            <a:endParaRPr/>
          </a:p>
        </p:txBody>
      </p:sp>
      <p:sp>
        <p:nvSpPr>
          <p:cNvPr id="5" name="Google Shape;286;p40"/>
          <p:cNvSpPr/>
          <p:nvPr/>
        </p:nvSpPr>
        <p:spPr>
          <a:xfrm>
            <a:off x="7990788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Анализ каналов продаж: зал, доставка, приложение</a:t>
            </a:r>
            <a:endParaRPr/>
          </a:p>
        </p:txBody>
      </p:sp>
      <p:sp>
        <p:nvSpPr>
          <p:cNvPr id="6" name="Google Shape;287;p40"/>
          <p:cNvSpPr/>
          <p:nvPr/>
        </p:nvSpPr>
        <p:spPr>
          <a:xfrm>
            <a:off x="677332" y="4044294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Региональная эффективность и выполнение плана</a:t>
            </a:r>
            <a:endParaRPr/>
          </a:p>
        </p:txBody>
      </p:sp>
      <p:sp>
        <p:nvSpPr>
          <p:cNvPr id="7" name="Google Shape;288;p40"/>
          <p:cNvSpPr/>
          <p:nvPr/>
        </p:nvSpPr>
        <p:spPr>
          <a:xfrm>
            <a:off x="4334060" y="4044294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Стратегические планы на IV квартал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Google Shape;443;p50"/>
          <p:cNvSpPr/>
          <p:nvPr/>
        </p:nvSpPr>
        <p:spPr>
          <a:xfrm>
            <a:off x="658813" y="1794065"/>
            <a:ext cx="6130294" cy="4406709"/>
          </a:xfrm>
          <a:prstGeom prst="roundRect">
            <a:avLst>
              <a:gd fmla="val 4444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444;p5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Выручка выросла на 12% до 47,3 млн руб.</a:t>
            </a:r>
            <a:endParaRPr/>
          </a:p>
        </p:txBody>
      </p:sp>
      <p:sp>
        <p:nvSpPr>
          <p:cNvPr id="14" name="Google Shape;450;p50"/>
          <p:cNvSpPr txBox="1"/>
          <p:nvPr/>
        </p:nvSpPr>
        <p:spPr>
          <a:xfrm>
            <a:off x="1022258" y="2740903"/>
            <a:ext cx="5417327" cy="24375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900"/>
              <a:buFont typeface="Arial"/>
              <a:buNone/>
            </a:pPr>
            <a:r>
              <a:rPr sz="6600" b="0" i="0">
                <a:solidFill>
                  <a:srgbClr val="0077FF"/>
                </a:solidFill>
                <a:latin typeface="Arial"/>
              </a:rPr>
              <a:t>Ключевые метрики</a:t>
            </a:r>
            <a:endParaRPr/>
          </a:p>
        </p:txBody>
      </p:sp>
      <p:sp>
        <p:nvSpPr>
          <p:cNvPr id="15" name="Google Shape;451;p50"/>
          <p:cNvSpPr txBox="1"/>
          <p:nvPr/>
        </p:nvSpPr>
        <p:spPr>
          <a:xfrm>
            <a:off x="1134802" y="5213202"/>
            <a:ext cx="5417326" cy="1149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sz="1800" b="0" i="0">
                <a:solidFill>
                  <a:srgbClr val="000000"/>
                </a:solidFill>
                <a:latin typeface="Arial"/>
              </a:rPr>
              <a:t>Выручка: 47,3 млн руб.</a:t>
            </a:r>
            <a:endParaRPr b="0" i="0" sz="24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Рост к II кв.: 12%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Число чеков: 134 150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Средний чек: 353 руб.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887;p7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Рост выручки за счёт увеличения числа чеков</a:t>
            </a:r>
            <a:endParaRPr/>
          </a:p>
        </p:txBody>
      </p:sp>
      <p:sp>
        <p:nvSpPr>
          <p:cNvPr id="3" name="Google Shape;888;p70"/>
          <p:cNvSpPr txBox="1"/>
          <p:nvPr>
            <p:ph idx="4294967295" type="body"/>
          </p:nvPr>
        </p:nvSpPr>
        <p:spPr>
          <a:xfrm>
            <a:off x="677863" y="1773238"/>
            <a:ext cx="445452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55588" marL="2555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sz="1400" b="0" i="0">
                <a:solidFill>
                  <a:srgbClr val="000000"/>
                </a:solidFill>
                <a:latin typeface="Arial"/>
              </a:rPr>
              <a:t>Анализ роста</a:t>
            </a:r>
            <a:endParaRPr/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000000"/>
                </a:solidFill>
                <a:latin typeface="Arial"/>
              </a:rPr>
              <a:t>Рост выручки обеспечен увеличением трафика, число чеков выросло быстрее среднего чека. Сентябрь стал главным драйвером роста благодаря сезонному меню и возвращению студентов.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009;p78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Выручка выросла с 14,2 до 18,0 млн руб.</a:t>
            </a:r>
            <a:endParaRPr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22645" y="1564991"/>
          <a:ext cx="10914616" cy="4763655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404;p47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406;p47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Сентябрь стал месяцем пиковых продаж</a:t>
            </a:r>
            <a:endParaRPr/>
          </a:p>
        </p:txBody>
      </p:sp>
      <p:sp>
        <p:nvSpPr>
          <p:cNvPr id="7" name="Google Shape;407;p47"/>
          <p:cNvSpPr txBox="1"/>
          <p:nvPr/>
        </p:nvSpPr>
        <p:spPr>
          <a:xfrm>
            <a:off x="6642100" y="692150"/>
            <a:ext cx="4738687" cy="5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35700" spcFirstLastPara="1" rIns="35700" wrap="square" tIns="3570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«Сентябрь показал, что гости возвращаются, если меню меняется вместе с сезоном»</a:t>
            </a:r>
            <a:endParaRPr/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Arial"/>
              </a:rPr>
              <a:t>— Анна Лебедева, операционный директор сети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048;p8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Зал дает 65%, доставка выросла на 41%</a:t>
            </a:r>
            <a:endParaRPr/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22645" y="1564991"/>
          <a:ext cx="10914616" cy="476365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" name="Google Shape;541;p56"/>
          <p:cNvSpPr txBox="1"/>
          <p:nvPr>
            <p:ph idx="1" type="body"/>
          </p:nvPr>
        </p:nvSpPr>
        <p:spPr>
          <a:xfrm>
            <a:off x="677334" y="2603500"/>
            <a:ext cx="5304365" cy="359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55588" marL="2555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sz="3200" b="0" i="0">
                <a:solidFill>
                  <a:srgbClr val="000000"/>
                </a:solidFill>
                <a:latin typeface="Arial"/>
              </a:rPr>
              <a:t>Доставка принесла 8,5 млн руб., что составляет 18% выручки.</a:t>
            </a:r>
            <a:endParaRPr/>
          </a:p>
        </p:txBody>
      </p:sp>
      <p:sp>
        <p:nvSpPr>
          <p:cNvPr id="6" name="Google Shape;542;p56"/>
          <p:cNvSpPr txBox="1"/>
          <p:nvPr>
            <p:ph idx="2" type="body"/>
          </p:nvPr>
        </p:nvSpPr>
        <p:spPr>
          <a:xfrm>
            <a:off x="6228824" y="2603501"/>
            <a:ext cx="5304364" cy="359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55588" marL="2555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sz="3200" b="0" i="0">
                <a:solidFill>
                  <a:srgbClr val="000000"/>
                </a:solidFill>
                <a:latin typeface="Arial"/>
              </a:rPr>
              <a:t>Рост канала составил 41% по сравнению с предыдущим кварталом.</a:t>
            </a:r>
            <a:endParaRPr/>
          </a:p>
        </p:txBody>
      </p:sp>
      <p:sp>
        <p:nvSpPr>
          <p:cNvPr id="7" name="Google Shape;543;p5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Доставка принесла 8,5 млн руб. (+41%)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Google Shape;490;p53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Предзаказ в приложении обогнал корпоративные заказы</a:t>
            </a:r>
            <a:endParaRPr/>
          </a:p>
        </p:txBody>
      </p:sp>
      <p:grpSp>
        <p:nvGrpSpPr>
          <p:cNvPr id="3" name="Google Shape;491;p53"/>
          <p:cNvGrpSpPr/>
          <p:nvPr/>
        </p:nvGrpSpPr>
        <p:grpSpPr>
          <a:xfrm>
            <a:off x="658812" y="2232530"/>
            <a:ext cx="10639191" cy="3299588"/>
            <a:chOff x="658812" y="2232530"/>
            <a:chExt cx="9830124" cy="3048668"/>
          </a:xfrm>
        </p:grpSpPr>
        <p:sp>
          <p:nvSpPr>
            <p:cNvPr id="4" name="Google Shape;492;p53"/>
            <p:cNvSpPr txBox="1"/>
            <p:nvPr/>
          </p:nvSpPr>
          <p:spPr>
            <a:xfrm>
              <a:off x="3165571" y="3260026"/>
              <a:ext cx="2311424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2000" b="0" i="0">
                  <a:solidFill>
                    <a:srgbClr val="000000"/>
                  </a:solidFill>
                  <a:latin typeface="Arial"/>
                </a:rPr>
                <a:t>Корпоративные заказы составили 3,4 млн руб. (7% выручки).</a:t>
              </a:r>
              <a:endParaRPr/>
            </a:p>
          </p:txBody>
        </p:sp>
        <p:sp>
          <p:nvSpPr>
            <p:cNvPr id="5" name="Google Shape;493;p53"/>
            <p:cNvSpPr txBox="1"/>
            <p:nvPr/>
          </p:nvSpPr>
          <p:spPr>
            <a:xfrm>
              <a:off x="5671541" y="3260026"/>
              <a:ext cx="2311424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2000" b="0" i="0">
                  <a:solidFill>
                    <a:srgbClr val="000000"/>
                  </a:solidFill>
                  <a:latin typeface="Arial"/>
                </a:rPr>
                <a:t>Впервые доля предзаказа превысила долю корпоративных продаж.</a:t>
              </a:r>
              <a:endParaRPr/>
            </a:p>
          </p:txBody>
        </p:sp>
        <p:sp>
          <p:nvSpPr>
            <p:cNvPr id="7" name="Google Shape;495;p53"/>
            <p:cNvSpPr txBox="1"/>
            <p:nvPr/>
          </p:nvSpPr>
          <p:spPr>
            <a:xfrm>
              <a:off x="658812" y="3260026"/>
              <a:ext cx="2312510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2000" b="0" i="0">
                  <a:solidFill>
                    <a:srgbClr val="000000"/>
                  </a:solidFill>
                  <a:latin typeface="Arial"/>
                </a:rPr>
                <a:t>Предзаказ в приложении принес 4,7 млн руб. (10% выручки).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054;p82"/>
          <p:cNvSpPr txBox="1"/>
          <p:nvPr>
            <p:ph type="title"/>
          </p:nvPr>
        </p:nvSpPr>
        <p:spPr>
          <a:xfrm>
            <a:off x="677334" y="692150"/>
            <a:ext cx="4008966" cy="174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СПб перевыполнил план на 12%, Мурманск отстал</a:t>
            </a:r>
            <a:endParaRPr/>
          </a:p>
        </p:txBody>
      </p:sp>
      <p:pic>
        <p:nvPicPr>
          <p:cNvPr id="3" name="Google Shape;1055;p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24388" y="692150"/>
            <a:ext cx="7502525" cy="55086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624388" y="3115310"/>
          <a:ext cx="6912873" cy="308546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Google Shape;504;p54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СПб: 26,6 млн руб., Петрозаводск: 9,8 млн руб.</a:t>
            </a:r>
            <a:endParaRPr/>
          </a:p>
        </p:txBody>
      </p:sp>
      <p:grpSp>
        <p:nvGrpSpPr>
          <p:cNvPr id="3" name="Google Shape;505;p54"/>
          <p:cNvGrpSpPr/>
          <p:nvPr/>
        </p:nvGrpSpPr>
        <p:grpSpPr>
          <a:xfrm>
            <a:off x="658813" y="2232530"/>
            <a:ext cx="11026909" cy="3299588"/>
            <a:chOff x="658813" y="2232530"/>
            <a:chExt cx="10188356" cy="3048668"/>
          </a:xfrm>
        </p:grpSpPr>
        <p:sp>
          <p:nvSpPr>
            <p:cNvPr id="4" name="Google Shape;506;p54"/>
            <p:cNvSpPr txBox="1"/>
            <p:nvPr/>
          </p:nvSpPr>
          <p:spPr>
            <a:xfrm>
              <a:off x="2773153" y="3260026"/>
              <a:ext cx="1803922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endParaRPr/>
            </a:p>
          </p:txBody>
        </p:sp>
        <p:sp>
          <p:nvSpPr>
            <p:cNvPr id="5" name="Google Shape;507;p54"/>
            <p:cNvSpPr txBox="1"/>
            <p:nvPr/>
          </p:nvSpPr>
          <p:spPr>
            <a:xfrm>
              <a:off x="4947852" y="3260026"/>
              <a:ext cx="1803922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1700" b="0" i="0">
                  <a:solidFill>
                    <a:srgbClr val="000000"/>
                  </a:solidFill>
                  <a:latin typeface="Arial"/>
                </a:rPr>
                <a:t>Петрозаводск выполнил план на 104%, выручка 9,8 млн руб.</a:t>
              </a:r>
              <a:endParaRPr/>
            </a:p>
          </p:txBody>
        </p:sp>
        <p:sp>
          <p:nvSpPr>
            <p:cNvPr id="6" name="Google Shape;508;p54"/>
            <p:cNvSpPr txBox="1"/>
            <p:nvPr/>
          </p:nvSpPr>
          <p:spPr>
            <a:xfrm>
              <a:off x="6973000" y="3260026"/>
              <a:ext cx="1803922" cy="19766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endParaRPr/>
            </a:p>
          </p:txBody>
        </p:sp>
        <p:sp>
          <p:nvSpPr>
            <p:cNvPr id="7" name="Google Shape;509;p54"/>
            <p:cNvSpPr txBox="1"/>
            <p:nvPr/>
          </p:nvSpPr>
          <p:spPr>
            <a:xfrm>
              <a:off x="9043247" y="3260026"/>
              <a:ext cx="1803922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1700" b="0" i="0">
                  <a:solidFill>
                    <a:srgbClr val="000000"/>
                  </a:solidFill>
                  <a:latin typeface="Arial"/>
                </a:rPr>
                <a:t>Архангельск выполнил план на 98%, выручка 4,7 млн руб.</a:t>
              </a:r>
              <a:endParaRPr/>
            </a:p>
          </p:txBody>
        </p:sp>
        <p:sp>
          <p:nvSpPr>
            <p:cNvPr id="8" name="Google Shape;510;p54"/>
            <p:cNvSpPr txBox="1"/>
            <p:nvPr/>
          </p:nvSpPr>
          <p:spPr>
            <a:xfrm>
              <a:off x="658813" y="3260026"/>
              <a:ext cx="1804769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1700" b="0" i="0">
                  <a:solidFill>
                    <a:srgbClr val="000000"/>
                  </a:solidFill>
                  <a:latin typeface="Arial"/>
                </a:rPr>
                <a:t>Санкт-Петербург выполнил план на 112%, выручка 26,6 млн руб.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3" name="Google Shape;274;p39"/>
          <p:cNvSpPr/>
          <p:nvPr/>
        </p:nvSpPr>
        <p:spPr>
          <a:xfrm>
            <a:off x="671512" y="1773238"/>
            <a:ext cx="5365752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" name="Google Shape;275;p39"/>
          <p:cNvSpPr/>
          <p:nvPr/>
        </p:nvSpPr>
        <p:spPr>
          <a:xfrm>
            <a:off x="6154737" y="1775553"/>
            <a:ext cx="539115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Мурманск выполнил план на 87%, выручка 6,2 млн руб.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276;p39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Мурманск: 87% плана из-за ремонта ТЦ</a:t>
            </a:r>
            <a:endParaRPr/>
          </a:p>
        </p:txBody>
      </p:sp>
      <p:sp>
        <p:nvSpPr>
          <p:cNvPr id="6" name="Google Shape;277;p39"/>
          <p:cNvSpPr/>
          <p:nvPr/>
        </p:nvSpPr>
        <p:spPr>
          <a:xfrm>
            <a:off x="671512" y="4044294"/>
            <a:ext cx="5365752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78;p39"/>
          <p:cNvSpPr/>
          <p:nvPr/>
        </p:nvSpPr>
        <p:spPr>
          <a:xfrm>
            <a:off x="6154737" y="4044294"/>
            <a:ext cx="539115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Низкий результат связан с закрытием двух точек в ТЦ «Полярный» на ремонт.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Google Shape;490;p53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Запуск программы лояльности и удержание базы</a:t>
            </a:r>
            <a:endParaRPr/>
          </a:p>
        </p:txBody>
      </p:sp>
      <p:grpSp>
        <p:nvGrpSpPr>
          <p:cNvPr id="3" name="Google Shape;491;p53"/>
          <p:cNvGrpSpPr/>
          <p:nvPr/>
        </p:nvGrpSpPr>
        <p:grpSpPr>
          <a:xfrm>
            <a:off x="658812" y="2232530"/>
            <a:ext cx="10639191" cy="3299588"/>
            <a:chOff x="658812" y="2232530"/>
            <a:chExt cx="9830124" cy="3048668"/>
          </a:xfrm>
        </p:grpSpPr>
        <p:sp>
          <p:nvSpPr>
            <p:cNvPr id="4" name="Google Shape;492;p53"/>
            <p:cNvSpPr txBox="1"/>
            <p:nvPr/>
          </p:nvSpPr>
          <p:spPr>
            <a:xfrm>
              <a:off x="3165571" y="3260026"/>
              <a:ext cx="2311424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2000" b="0" i="0">
                  <a:solidFill>
                    <a:srgbClr val="000000"/>
                  </a:solidFill>
                  <a:latin typeface="Arial"/>
                </a:rPr>
                <a:t>Удержание текущей базы гостей персональными предложениями.</a:t>
              </a:r>
              <a:endParaRPr/>
            </a:p>
          </p:txBody>
        </p:sp>
        <p:sp>
          <p:nvSpPr>
            <p:cNvPr id="5" name="Google Shape;493;p53"/>
            <p:cNvSpPr txBox="1"/>
            <p:nvPr/>
          </p:nvSpPr>
          <p:spPr>
            <a:xfrm>
              <a:off x="5671541" y="3260026"/>
              <a:ext cx="2311424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2000" b="0" i="0">
                  <a:solidFill>
                    <a:srgbClr val="000000"/>
                  </a:solidFill>
                  <a:latin typeface="Arial"/>
                </a:rPr>
                <a:t>Пересмотр условий для корпоративных клиентов.</a:t>
              </a:r>
              <a:endParaRPr/>
            </a:p>
          </p:txBody>
        </p:sp>
        <p:sp>
          <p:nvSpPr>
            <p:cNvPr id="7" name="Google Shape;495;p53"/>
            <p:cNvSpPr txBox="1"/>
            <p:nvPr/>
          </p:nvSpPr>
          <p:spPr>
            <a:xfrm>
              <a:off x="658812" y="3260026"/>
              <a:ext cx="2312510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2000" b="0" i="0">
                  <a:solidFill>
                    <a:srgbClr val="000000"/>
                  </a:solidFill>
                  <a:latin typeface="Arial"/>
                </a:rPr>
                <a:t>Запуск программы лояльности в приложении.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248;p35"/>
          <p:cNvSpPr txBox="1"/>
          <p:nvPr>
            <p:ph idx="1" type="body"/>
          </p:nvPr>
        </p:nvSpPr>
        <p:spPr>
          <a:xfrm>
            <a:off x="2685321" y="5072811"/>
            <a:ext cx="5012644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sz="1800" b="0" i="0">
                <a:solidFill>
                  <a:srgbClr val="FFFFFF"/>
                </a:solidFill>
                <a:latin typeface="Arial"/>
              </a:rPr>
              <a:t>В IV квартале откроются две точки в Мурманске после ремонта ТЦ «Полярный».</a:t>
            </a:r>
            <a:endParaRPr/>
          </a:p>
        </p:txBody>
      </p:sp>
      <p:sp>
        <p:nvSpPr>
          <p:cNvPr id="5" name="Google Shape;249;p35"/>
          <p:cNvSpPr txBox="1"/>
          <p:nvPr>
            <p:ph type="title"/>
          </p:nvPr>
        </p:nvSpPr>
        <p:spPr>
          <a:xfrm>
            <a:off x="622261" y="2112702"/>
            <a:ext cx="6271699" cy="19943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</a:pPr>
            <a:r>
              <a:rPr sz="4400" b="1" i="0">
                <a:solidFill>
                  <a:srgbClr val="FFFFFF"/>
                </a:solidFill>
                <a:latin typeface="Arial"/>
              </a:rPr>
              <a:t>Открытие двух точек в Мурманске</a:t>
            </a:r>
            <a:endParaRPr/>
          </a:p>
        </p:txBody>
      </p:sp>
      <p:pic>
        <p:nvPicPr>
          <p:cNvPr id="6" name="Google Shape;250;p35"/>
          <p:cNvPicPr preferRelativeResize="0"/>
          <p:nvPr/>
        </p:nvPicPr>
        <p:blipFill rotWithShape="1">
          <a:blip r:embed="rId2">
            <a:alphaModFix/>
          </a:blip>
          <a:srcRect b="46639" l="14949" r="54601" t="7685"/>
          <a:stretch/>
        </p:blipFill>
        <p:spPr>
          <a:xfrm>
            <a:off x="658813" y="4577921"/>
            <a:ext cx="1622854" cy="1622854"/>
          </a:xfrm>
          <a:custGeom>
            <a:rect b="b" l="l" r="r" t="t"/>
            <a:pathLst>
              <a:path extrusionOk="0" h="1622854" w="1622854">
                <a:moveTo>
                  <a:pt x="811427" y="0"/>
                </a:moveTo>
                <a:cubicBezTo>
                  <a:pt x="1259566" y="0"/>
                  <a:pt x="1622854" y="363288"/>
                  <a:pt x="1622854" y="811427"/>
                </a:cubicBezTo>
                <a:cubicBezTo>
                  <a:pt x="1622854" y="1259566"/>
                  <a:pt x="1259566" y="1622854"/>
                  <a:pt x="811427" y="1622854"/>
                </a:cubicBezTo>
                <a:cubicBezTo>
                  <a:pt x="363288" y="1622854"/>
                  <a:pt x="0" y="1259566"/>
                  <a:pt x="0" y="811427"/>
                </a:cubicBezTo>
                <a:cubicBezTo>
                  <a:pt x="0" y="363288"/>
                  <a:pt x="363288" y="0"/>
                  <a:pt x="81142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Google Shape;1096;p87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sz="4400" b="1" i="0">
                <a:solidFill>
                  <a:srgbClr val="000000"/>
                </a:solidFill>
                <a:latin typeface="Arial"/>
              </a:rPr>
              <a:t>Спасибо за внимание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