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по месяцам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7B8DA3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14.2</c:v>
                </c:pt>
                <c:pt idx="1">
                  <c:v>15.1</c:v>
                </c:pt>
                <c:pt idx="2">
                  <c:v>18.0</c:v>
                </c:pt>
              </c:numCache>
            </c:numRef>
          </c:val>
        </c:ser>
        <c:dLbls>
          <c:numFmt formatCode="[$-419]#,##0.0&quot; млн руб.&quot;" sourceLinked="0"/>
          <c:txPr>
            <a:bodyPr wrap="none"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.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000000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чеков по месяцам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7B8DA3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41380.0</c:v>
                </c:pt>
                <c:pt idx="1">
                  <c:v>43050.0</c:v>
                </c:pt>
                <c:pt idx="2">
                  <c:v>49720.0</c:v>
                </c:pt>
              </c:numCache>
            </c:numRef>
          </c:val>
        </c:ser>
        <c:dLbls>
          <c:numFmt formatCode="[$-419]#,##0&quot; чеков&quot;" sourceLinked="0"/>
          <c:txPr>
            <a:bodyPr wrap="none"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000000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Средний чек по месяцам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7B8DA3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343.0</c:v>
                </c:pt>
                <c:pt idx="1">
                  <c:v>351.0</c:v>
                </c:pt>
                <c:pt idx="2">
                  <c:v>362.0</c:v>
                </c:pt>
              </c:numCache>
            </c:numRef>
          </c:val>
        </c:ser>
        <c:dLbls>
          <c:numFmt formatCode="[$-419]#,##0&quot; руб.&quot;" sourceLinked="0"/>
          <c:txPr>
            <a:bodyPr wrap="none"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000000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каналов продаж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005EFF"/>
              </a:solidFill>
            </c:spPr>
          </c:dPt>
          <c:dPt>
            <c:idx val="2"/>
            <c:spPr>
              <a:solidFill>
                <a:srgbClr val="007DEA"/>
              </a:solidFill>
            </c:spPr>
          </c:dPt>
          <c:dPt>
            <c:idx val="3"/>
            <c:spPr>
              <a:solidFill>
                <a:srgbClr val="001515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4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4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4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4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Продажи в зале</c:v>
                </c:pt>
                <c:pt idx="1">
                  <c:v>Доставка</c:v>
                </c:pt>
                <c:pt idx="2">
                  <c:v>Предзаказ в приложении</c:v>
                </c:pt>
                <c:pt idx="3">
                  <c:v>Корпоративные заказы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65.0</c:v>
                </c:pt>
                <c:pt idx="1">
                  <c:v>18.0</c:v>
                </c:pt>
                <c:pt idx="2">
                  <c:v>10.0</c:v>
                </c:pt>
                <c:pt idx="3">
                  <c:v>7.0</c:v>
                </c:pt>
              </c:numCache>
            </c:numRef>
          </c:val>
        </c:ser>
        <c:dLbls>
          <c:numFmt formatCode="[$-419]#,##0&quot; %&quot;" sourceLinked="0"/>
          <c:txPr>
            <a:bodyPr/>
            <a:lstStyle/>
            <a:p>
              <a:pPr>
                <a:defRPr sz="14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solidFill>
            <a:srgbClr val="000000"/>
          </a:solidFill>
          <a:latin typeface="Play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Выполнение плана по городам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7B8DA3"/>
              </a:solidFill>
            </c:spPr>
          </c:dPt>
          <c:dPt>
            <c:idx val="2"/>
            <c:spPr>
              <a:solidFill>
                <a:srgbClr val="7B8DA3"/>
              </a:solidFill>
            </c:spPr>
          </c:dPt>
          <c:dPt>
            <c:idx val="3"/>
            <c:spPr>
              <a:solidFill>
                <a:srgbClr val="0077FF"/>
              </a:solidFill>
            </c:spPr>
          </c:dPt>
          <c:cat>
            <c:strRef>
              <c:f>Sheet1!$A$2:$A$5</c:f>
              <c:strCache>
                <c:ptCount val="4"/>
                <c:pt idx="0">
                  <c:v>Санкт-Петербург</c:v>
                </c:pt>
                <c:pt idx="1">
                  <c:v>Петрозаводск</c:v>
                </c:pt>
                <c:pt idx="2">
                  <c:v>Архангельск</c:v>
                </c:pt>
                <c:pt idx="3">
                  <c:v>Мурманск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112.0</c:v>
                </c:pt>
                <c:pt idx="1">
                  <c:v>104.0</c:v>
                </c:pt>
                <c:pt idx="2">
                  <c:v>98.0</c:v>
                </c:pt>
                <c:pt idx="3">
                  <c:v>87.0</c:v>
                </c:pt>
              </c:numCache>
            </c:numRef>
          </c:val>
        </c:ser>
        <c:dLbls>
          <c:numFmt formatCode="[$-419]#,##0&quot; %&quot;" sourceLinked="0"/>
          <c:txPr>
            <a:bodyPr wrap="none"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000000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3.png"/><Relationship Id="rId3" Type="http://schemas.openxmlformats.org/officeDocument/2006/relationships/image" Target="../media/image49.png"/><Relationship Id="rId4" Type="http://schemas.openxmlformats.org/officeDocument/2006/relationships/image" Target="../media/image55.png"/><Relationship Id="rId5" Type="http://schemas.openxmlformats.org/officeDocument/2006/relationships/image" Target="../media/image47.png"/><Relationship Id="rId6" Type="http://schemas.openxmlformats.org/officeDocument/2006/relationships/image" Target="../media/image53.png"/><Relationship Id="rId7" Type="http://schemas.openxmlformats.org/officeDocument/2006/relationships/image" Target="../media/image72.png"/><Relationship Id="rId8" Type="http://schemas.openxmlformats.org/officeDocument/2006/relationships/image" Target="../media/image57.png"/><Relationship Id="rId9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0.png"/><Relationship Id="rId3" Type="http://schemas.openxmlformats.org/officeDocument/2006/relationships/image" Target="../media/image46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51.png"/><Relationship Id="rId7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65.png"/><Relationship Id="rId6" Type="http://schemas.openxmlformats.org/officeDocument/2006/relationships/image" Target="../media/image71.png"/><Relationship Id="rId7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8.png"/><Relationship Id="rId3" Type="http://schemas.openxmlformats.org/officeDocument/2006/relationships/image" Target="../media/image4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0.png"/><Relationship Id="rId3" Type="http://schemas.openxmlformats.org/officeDocument/2006/relationships/image" Target="../media/image46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51.png"/><Relationship Id="rId7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9.png"/><Relationship Id="rId3" Type="http://schemas.openxmlformats.org/officeDocument/2006/relationships/image" Target="../media/image147.png"/><Relationship Id="rId4" Type="http://schemas.openxmlformats.org/officeDocument/2006/relationships/image" Target="../media/image151.png"/><Relationship Id="rId5" Type="http://schemas.openxmlformats.org/officeDocument/2006/relationships/image" Target="../media/image146.png"/><Relationship Id="rId6" Type="http://schemas.openxmlformats.org/officeDocument/2006/relationships/image" Target="../media/image40.png"/><Relationship Id="rId7" Type="http://schemas.openxmlformats.org/officeDocument/2006/relationships/image" Target="../media/image26.png"/><Relationship Id="rId8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401;p4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2000" b="1" i="0">
                <a:solidFill>
                  <a:srgbClr val="FAFCFF"/>
                </a:solidFill>
                <a:latin typeface="Play"/>
              </a:rPr>
              <a:t>Итоги продаж сети «Северный кофе» за III квартал 2026 года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056;p66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57;p66"/>
          <p:cNvSpPr/>
          <p:nvPr/>
        </p:nvSpPr>
        <p:spPr>
          <a:xfrm>
            <a:off x="3838239" y="276524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58;p66"/>
          <p:cNvSpPr/>
          <p:nvPr/>
        </p:nvSpPr>
        <p:spPr>
          <a:xfrm>
            <a:off x="4048160" y="486417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59;p66"/>
          <p:cNvSpPr/>
          <p:nvPr/>
        </p:nvSpPr>
        <p:spPr>
          <a:xfrm>
            <a:off x="4048160" y="486418"/>
            <a:ext cx="4585000" cy="64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Play"/>
              </a:rPr>
              <a:t>Ключевые финансовые показатели III квартала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060;p66"/>
          <p:cNvSpPr/>
          <p:nvPr/>
        </p:nvSpPr>
        <p:spPr>
          <a:xfrm>
            <a:off x="4048160" y="740925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061;p66"/>
          <p:cNvSpPr/>
          <p:nvPr/>
        </p:nvSpPr>
        <p:spPr>
          <a:xfrm>
            <a:off x="3838239" y="1462423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062;p66"/>
          <p:cNvSpPr/>
          <p:nvPr/>
        </p:nvSpPr>
        <p:spPr>
          <a:xfrm>
            <a:off x="4048160" y="16723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63;p66"/>
          <p:cNvSpPr/>
          <p:nvPr/>
        </p:nvSpPr>
        <p:spPr>
          <a:xfrm>
            <a:off x="4048160" y="1672317"/>
            <a:ext cx="4585000" cy="64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Play"/>
              </a:rPr>
              <a:t>Анализ каналов продаж и географии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064;p66"/>
          <p:cNvSpPr/>
          <p:nvPr/>
        </p:nvSpPr>
        <p:spPr>
          <a:xfrm>
            <a:off x="4048160" y="19268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065;p66"/>
          <p:cNvSpPr/>
          <p:nvPr/>
        </p:nvSpPr>
        <p:spPr>
          <a:xfrm>
            <a:off x="3838239" y="2648322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066;p66"/>
          <p:cNvSpPr/>
          <p:nvPr/>
        </p:nvSpPr>
        <p:spPr>
          <a:xfrm>
            <a:off x="4048160" y="28582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067;p66"/>
          <p:cNvSpPr/>
          <p:nvPr/>
        </p:nvSpPr>
        <p:spPr>
          <a:xfrm>
            <a:off x="4048160" y="2858216"/>
            <a:ext cx="4585000" cy="64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Play"/>
              </a:rPr>
              <a:t>Драйверы роста и сезонные факторы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068;p66"/>
          <p:cNvSpPr/>
          <p:nvPr/>
        </p:nvSpPr>
        <p:spPr>
          <a:xfrm>
            <a:off x="4048160" y="31127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069;p66"/>
          <p:cNvSpPr/>
          <p:nvPr/>
        </p:nvSpPr>
        <p:spPr>
          <a:xfrm>
            <a:off x="3838239" y="3834221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070;p66"/>
          <p:cNvSpPr/>
          <p:nvPr/>
        </p:nvSpPr>
        <p:spPr>
          <a:xfrm>
            <a:off x="4048160" y="4044115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071;p66"/>
          <p:cNvSpPr/>
          <p:nvPr/>
        </p:nvSpPr>
        <p:spPr>
          <a:xfrm>
            <a:off x="4048160" y="4044115"/>
            <a:ext cx="4585000" cy="64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Play"/>
              </a:rPr>
              <a:t>Стратегия и план действий на IV квартал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072;p66"/>
          <p:cNvSpPr/>
          <p:nvPr/>
        </p:nvSpPr>
        <p:spPr>
          <a:xfrm>
            <a:off x="4048160" y="4298621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92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073;p66"/>
          <p:cNvSpPr txBox="1"/>
          <p:nvPr>
            <p:ph type="title"/>
          </p:nvPr>
        </p:nvSpPr>
        <p:spPr>
          <a:xfrm>
            <a:off x="177971" y="282949"/>
            <a:ext cx="3412254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Структура презентации: итоги и планы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" name="Google Shape;1343;p74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438" b="1" i="0">
                <a:solidFill>
                  <a:srgbClr val="000000"/>
                </a:solidFill>
                <a:latin typeface="Play"/>
              </a:rPr>
              <a:t>Выручка выросла на 12% до 47,3 млн руб.</a:t>
            </a:r>
            <a:endParaRPr/>
          </a:p>
        </p:txBody>
      </p:sp>
      <p:sp>
        <p:nvSpPr>
          <p:cNvPr id="121" name="Google Shape;1344;p74"/>
          <p:cNvSpPr txBox="1"/>
          <p:nvPr/>
        </p:nvSpPr>
        <p:spPr>
          <a:xfrm>
            <a:off x="167082" y="1795836"/>
            <a:ext cx="3891803" cy="14004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7927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Font typeface="Play"/>
              <a:buNone/>
            </a:pPr>
            <a:endParaRPr b="1" i="0" sz="9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177362" y="1795836"/>
            <a:ext cx="3891803" cy="630183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000000"/>
                </a:solidFill>
                <a:latin typeface="Play"/>
              </a:rPr>
              <a:t>Рост выручки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77362" y="2426019"/>
            <a:ext cx="3891803" cy="770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Play"/>
              </a:rPr>
              <a:t>+12% к II кварталу</a:t>
            </a:r>
          </a:p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0000"/>
                </a:solidFill>
                <a:latin typeface="Play"/>
              </a:rPr>
              <a:t>47,3 млн руб. за III кв.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4" name="Google Shape;1017;p64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438" b="1" i="0">
                <a:solidFill>
                  <a:srgbClr val="000000"/>
                </a:solidFill>
                <a:latin typeface="Play"/>
              </a:rPr>
              <a:t>Выручка росла каждый месяц квартала</a:t>
            </a:r>
            <a:endParaRPr/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177362" y="1178602"/>
          <a:ext cx="8688709" cy="3371394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Google Shape;966;p63"/>
          <p:cNvSpPr/>
          <p:nvPr/>
        </p:nvSpPr>
        <p:spPr>
          <a:xfrm>
            <a:off x="685797" y="1474640"/>
            <a:ext cx="3957838" cy="75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000000"/>
                </a:solidFill>
                <a:latin typeface="Play"/>
              </a:rPr>
              <a:t>Пробито 134 150 чеков за квартал</a:t>
            </a:r>
            <a:endParaRPr b="0" i="0" sz="270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980;p63"/>
          <p:cNvSpPr txBox="1"/>
          <p:nvPr>
            <p:ph type="title"/>
          </p:nvPr>
        </p:nvSpPr>
        <p:spPr>
          <a:xfrm>
            <a:off x="167921" y="208784"/>
            <a:ext cx="6792985" cy="431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438" b="1" i="0">
                <a:solidFill>
                  <a:srgbClr val="000000"/>
                </a:solidFill>
                <a:latin typeface="Play"/>
              </a:rPr>
              <a:t>Рост обеспечен увеличением трафика</a:t>
            </a:r>
            <a:endParaRPr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177362" y="811902"/>
          <a:ext cx="8688709" cy="3738094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1119;p69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132;p6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438" b="1" i="0">
                <a:solidFill>
                  <a:srgbClr val="000000"/>
                </a:solidFill>
                <a:latin typeface="Play"/>
              </a:rPr>
              <a:t>Средний чек вырос до 353 руб.</a:t>
            </a:r>
            <a:endParaRPr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177362" y="1967014"/>
          <a:ext cx="8688709" cy="2582982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814;p59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815;p5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816;p59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817;p59"/>
          <p:cNvSpPr/>
          <p:nvPr/>
        </p:nvSpPr>
        <p:spPr>
          <a:xfrm>
            <a:off x="285749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818;p59"/>
          <p:cNvSpPr/>
          <p:nvPr/>
        </p:nvSpPr>
        <p:spPr>
          <a:xfrm>
            <a:off x="438148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19;p59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820;p59"/>
          <p:cNvSpPr/>
          <p:nvPr/>
        </p:nvSpPr>
        <p:spPr>
          <a:xfrm>
            <a:off x="438148" y="1590803"/>
            <a:ext cx="253998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21;p59"/>
          <p:cNvSpPr/>
          <p:nvPr/>
        </p:nvSpPr>
        <p:spPr>
          <a:xfrm>
            <a:off x="438148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822;p59"/>
          <p:cNvSpPr/>
          <p:nvPr/>
        </p:nvSpPr>
        <p:spPr>
          <a:xfrm>
            <a:off x="3174990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823;p59"/>
          <p:cNvSpPr/>
          <p:nvPr/>
        </p:nvSpPr>
        <p:spPr>
          <a:xfrm>
            <a:off x="3327389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824;p59"/>
          <p:cNvSpPr/>
          <p:nvPr/>
        </p:nvSpPr>
        <p:spPr>
          <a:xfrm>
            <a:off x="3327389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5;p59"/>
          <p:cNvSpPr/>
          <p:nvPr/>
        </p:nvSpPr>
        <p:spPr>
          <a:xfrm>
            <a:off x="3327389" y="1590803"/>
            <a:ext cx="2539986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Предзаказ в приложении &gt; корпоративные заказы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826;p59"/>
          <p:cNvSpPr/>
          <p:nvPr/>
        </p:nvSpPr>
        <p:spPr>
          <a:xfrm>
            <a:off x="3327389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27;p59"/>
          <p:cNvSpPr/>
          <p:nvPr/>
        </p:nvSpPr>
        <p:spPr>
          <a:xfrm>
            <a:off x="6064213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28;p59"/>
          <p:cNvSpPr/>
          <p:nvPr/>
        </p:nvSpPr>
        <p:spPr>
          <a:xfrm>
            <a:off x="6216612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829;p59"/>
          <p:cNvSpPr/>
          <p:nvPr/>
        </p:nvSpPr>
        <p:spPr>
          <a:xfrm>
            <a:off x="6216612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830;p59"/>
          <p:cNvSpPr/>
          <p:nvPr/>
        </p:nvSpPr>
        <p:spPr>
          <a:xfrm>
            <a:off x="6216612" y="1590803"/>
            <a:ext cx="2539986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Доля зала: 65% выручки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831;p59"/>
          <p:cNvSpPr/>
          <p:nvPr/>
        </p:nvSpPr>
        <p:spPr>
          <a:xfrm>
            <a:off x="6216612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832;p59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33;p59"/>
          <p:cNvSpPr/>
          <p:nvPr/>
        </p:nvSpPr>
        <p:spPr>
          <a:xfrm>
            <a:off x="285749" y="2883653"/>
            <a:ext cx="2794001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834;p59"/>
          <p:cNvSpPr/>
          <p:nvPr/>
        </p:nvSpPr>
        <p:spPr>
          <a:xfrm>
            <a:off x="438148" y="3036033"/>
            <a:ext cx="2489203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835;p59"/>
          <p:cNvSpPr/>
          <p:nvPr/>
        </p:nvSpPr>
        <p:spPr>
          <a:xfrm>
            <a:off x="438148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836;p59"/>
          <p:cNvSpPr/>
          <p:nvPr/>
        </p:nvSpPr>
        <p:spPr>
          <a:xfrm>
            <a:off x="438148" y="3264604"/>
            <a:ext cx="2540003" cy="1083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Доставка: +41% к прошлому кварталу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837;p59"/>
          <p:cNvSpPr/>
          <p:nvPr/>
        </p:nvSpPr>
        <p:spPr>
          <a:xfrm>
            <a:off x="438148" y="3493174"/>
            <a:ext cx="2527303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845;p59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Доставка выросла на 41%, предзаказ обогнал корпоративные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Google Shape;980;p63"/>
          <p:cNvSpPr txBox="1"/>
          <p:nvPr>
            <p:ph type="title"/>
          </p:nvPr>
        </p:nvSpPr>
        <p:spPr>
          <a:xfrm>
            <a:off x="167921" y="208784"/>
            <a:ext cx="6792985" cy="431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438" b="1" i="0">
                <a:solidFill>
                  <a:srgbClr val="000000"/>
                </a:solidFill>
                <a:latin typeface="Play"/>
              </a:rPr>
              <a:t>Доля каналов продаж: зал лидирует</a:t>
            </a:r>
            <a:endParaRPr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177362" y="811902"/>
          <a:ext cx="8688709" cy="3738094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3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438" b="1" i="0">
                <a:solidFill>
                  <a:srgbClr val="000000"/>
                </a:solidFill>
                <a:latin typeface="Play"/>
              </a:rPr>
              <a:t>Сентябрь стал главным драйвером роста</a:t>
            </a:r>
            <a:endParaRPr/>
          </a:p>
        </p:txBody>
      </p:sp>
      <p:sp>
        <p:nvSpPr>
          <p:cNvPr id="6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" name="Google Shape;2254;p83"/>
          <p:cNvSpPr txBox="1"/>
          <p:nvPr/>
        </p:nvSpPr>
        <p:spPr>
          <a:xfrm>
            <a:off x="256559" y="3689483"/>
            <a:ext cx="142365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sz="413" b="0" i="0">
                <a:solidFill>
                  <a:srgbClr val="000000"/>
                </a:solidFill>
                <a:latin typeface="Play"/>
              </a:rPr>
              <a:t>«Сентябрь показал, что гости возвращаются, если меню меняется вместе с сезоном»</a:t>
            </a:r>
            <a:endParaRPr/>
          </a:p>
          <a:p>
            <a:pPr algn="l">
              <a:lnSpc>
                <a:spcPct val="100000"/>
              </a:lnSpc>
            </a:pPr>
            <a:r>
              <a:rPr sz="413" b="0" i="0">
                <a:solidFill>
                  <a:srgbClr val="000000"/>
                </a:solidFill>
                <a:latin typeface="Play"/>
              </a:rPr>
              <a:t>— Анна Лебедева, операционный директор сети</a:t>
            </a:r>
          </a:p>
        </p:txBody>
      </p:sp>
      <p:sp>
        <p:nvSpPr>
          <p:cNvPr id="9" name="Google Shape;2255;p83"/>
          <p:cNvSpPr txBox="1"/>
          <p:nvPr/>
        </p:nvSpPr>
        <p:spPr>
          <a:xfrm>
            <a:off x="3148349" y="3689483"/>
            <a:ext cx="142365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sz="563" b="0" i="0">
                <a:solidFill>
                  <a:srgbClr val="000000"/>
                </a:solidFill>
                <a:latin typeface="Play"/>
              </a:rPr>
              <a:t>Сезонное меню и студенты обеспечили пик продаж в сентябре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Google Shape;2372;p8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СПб выполнил план на 112%, Мурманск на 87%</a:t>
            </a:r>
            <a:endParaRPr/>
          </a:p>
        </p:txBody>
      </p:sp>
      <p:sp>
        <p:nvSpPr>
          <p:cNvPr id="21" name="Google Shape;2374;p87"/>
          <p:cNvSpPr txBox="1"/>
          <p:nvPr/>
        </p:nvSpPr>
        <p:spPr>
          <a:xfrm>
            <a:off x="7099707" y="671777"/>
            <a:ext cx="2044293" cy="533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b="0" i="0" sz="3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" name="Google Shape;2379;p87"/>
          <p:cNvSpPr/>
          <p:nvPr/>
        </p:nvSpPr>
        <p:spPr>
          <a:xfrm>
            <a:off x="7099707" y="890962"/>
            <a:ext cx="629150" cy="230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177362" y="1178602"/>
          <a:ext cx="8688709" cy="3371394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65;p55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666;p55"/>
          <p:cNvSpPr/>
          <p:nvPr/>
        </p:nvSpPr>
        <p:spPr>
          <a:xfrm>
            <a:off x="438148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667;p55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668;p55"/>
          <p:cNvSpPr/>
          <p:nvPr/>
        </p:nvSpPr>
        <p:spPr>
          <a:xfrm>
            <a:off x="438148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Запуск программы лояльности в приложении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69;p55"/>
          <p:cNvSpPr/>
          <p:nvPr/>
        </p:nvSpPr>
        <p:spPr>
          <a:xfrm>
            <a:off x="438148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670;p55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671;p55"/>
          <p:cNvSpPr/>
          <p:nvPr/>
        </p:nvSpPr>
        <p:spPr>
          <a:xfrm>
            <a:off x="2605074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672;p55"/>
          <p:cNvSpPr/>
          <p:nvPr/>
        </p:nvSpPr>
        <p:spPr>
          <a:xfrm>
            <a:off x="260507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673;p55"/>
          <p:cNvSpPr/>
          <p:nvPr/>
        </p:nvSpPr>
        <p:spPr>
          <a:xfrm>
            <a:off x="2605074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Пересмотр условий для корпоративных клиентов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674;p55"/>
          <p:cNvSpPr/>
          <p:nvPr/>
        </p:nvSpPr>
        <p:spPr>
          <a:xfrm>
            <a:off x="2605074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675;p55"/>
          <p:cNvSpPr/>
          <p:nvPr/>
        </p:nvSpPr>
        <p:spPr>
          <a:xfrm>
            <a:off x="4619601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676;p55"/>
          <p:cNvSpPr/>
          <p:nvPr/>
        </p:nvSpPr>
        <p:spPr>
          <a:xfrm>
            <a:off x="4772001" y="1362233"/>
            <a:ext cx="1766878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677;p55"/>
          <p:cNvSpPr/>
          <p:nvPr/>
        </p:nvSpPr>
        <p:spPr>
          <a:xfrm>
            <a:off x="477200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678;p55"/>
          <p:cNvSpPr/>
          <p:nvPr/>
        </p:nvSpPr>
        <p:spPr>
          <a:xfrm>
            <a:off x="4772001" y="1590803"/>
            <a:ext cx="1817678" cy="2519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88" b="0" i="0">
                <a:solidFill>
                  <a:srgbClr val="000000"/>
                </a:solidFill>
                <a:latin typeface="Play"/>
              </a:rPr>
              <a:t>Открытие двух точек в Мурманске после ремонта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679;p55"/>
          <p:cNvSpPr/>
          <p:nvPr/>
        </p:nvSpPr>
        <p:spPr>
          <a:xfrm>
            <a:off x="4772001" y="1819373"/>
            <a:ext cx="1804978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900" u="none" cap="none" strike="noStrike">
              <a:solidFill>
                <a:srgbClr val="8F8F8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2000" b="1" i="0">
                <a:solidFill>
                  <a:srgbClr val="000000"/>
                </a:solidFill>
                <a:latin typeface="Play"/>
              </a:rPr>
              <a:t>План на IV квартал: лояльность и новые точки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447;p4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sz="2438" b="1" i="0">
                <a:solidFill>
                  <a:srgbClr val="000000"/>
                </a:solidFill>
                <a:latin typeface="Play"/>
              </a:rPr>
              <a:t>Утвердить план действий на IV квартал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