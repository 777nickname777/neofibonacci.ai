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15.1</c:v>
                </c:pt>
                <c:pt idx="2">
                  <c:v>18.0</c:v>
                </c:pt>
              </c:numCache>
            </c:numRef>
          </c:val>
        </c:ser>
        <c:dLbls>
          <c:numFmt formatCode="[$-419]#,##0.0&quot; млн руб.&quot;" sourceLinked="0"/>
          <c:txPr>
            <a:bodyPr wrap="none"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чеков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41380.0</c:v>
                </c:pt>
                <c:pt idx="1">
                  <c:v>43050.0</c:v>
                </c:pt>
                <c:pt idx="2">
                  <c:v>49720.0</c:v>
                </c:pt>
              </c:numCache>
            </c:numRef>
          </c:val>
        </c:ser>
        <c:dLbls>
          <c:numFmt formatCode="[$-419]#,##0&quot; чеков&quot;" sourceLinked="0"/>
          <c:txPr>
            <a:bodyPr wrap="none"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Средний чек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343.0</c:v>
                </c:pt>
                <c:pt idx="1">
                  <c:v>351.0</c:v>
                </c:pt>
                <c:pt idx="2">
                  <c:v>362.0</c:v>
                </c:pt>
              </c:numCache>
            </c:numRef>
          </c:val>
        </c:ser>
        <c:dLbls>
          <c:numFmt formatCode="[$-419]#,##0&quot; руб.&quot;" sourceLinked="0"/>
          <c:txPr>
            <a:bodyPr wrap="none"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каналов продаж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005EFF"/>
              </a:solidFill>
            </c:spPr>
          </c:dPt>
          <c:dPt>
            <c:idx val="2"/>
            <c:spPr>
              <a:solidFill>
                <a:srgbClr val="007DEA"/>
              </a:solidFill>
            </c:spPr>
          </c:dPt>
          <c:dPt>
            <c:idx val="3"/>
            <c:spPr>
              <a:solidFill>
                <a:srgbClr val="001515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3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3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3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3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Продажи в зале</c:v>
                </c:pt>
                <c:pt idx="1">
                  <c:v>Доставка</c:v>
                </c:pt>
                <c:pt idx="2">
                  <c:v>Предзаказ в приложении</c:v>
                </c:pt>
                <c:pt idx="3">
                  <c:v>Корпоративные заказы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65.0</c:v>
                </c:pt>
                <c:pt idx="1">
                  <c:v>18.0</c:v>
                </c:pt>
                <c:pt idx="2">
                  <c:v>10.0</c:v>
                </c:pt>
                <c:pt idx="3">
                  <c:v>7.0</c:v>
                </c:pt>
              </c:numCache>
            </c:numRef>
          </c:val>
        </c:ser>
        <c:dLbls>
          <c:numFmt formatCode="[$-419]#,##0&quot; %&quot;" sourceLinked="0"/>
          <c:txPr>
            <a:bodyPr/>
            <a:lstStyle/>
            <a:p>
              <a:pPr>
                <a:defRPr sz="135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350"/>
          </a:pPr>
        </a:p>
      </c:txPr>
    </c:legend>
    <c:plotVisOnly val="1"/>
    <c:dispBlanksAs val="gap"/>
    <c:showDLblsOverMax val="0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Выполнение плана по городам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7B8DA3"/>
              </a:solidFill>
            </c:spPr>
          </c:dPt>
          <c:dPt>
            <c:idx val="3"/>
            <c:spPr>
              <a:solidFill>
                <a:srgbClr val="0077FF"/>
              </a:solidFill>
            </c:spPr>
          </c:dPt>
          <c:cat>
            <c:strRef>
              <c:f>Sheet1!$A$2:$A$5</c:f>
              <c:strCache>
                <c:ptCount val="4"/>
                <c:pt idx="0">
                  <c:v>Санкт-Петербург</c:v>
                </c:pt>
                <c:pt idx="1">
                  <c:v>Петрозаводск</c:v>
                </c:pt>
                <c:pt idx="2">
                  <c:v>Архангельск</c:v>
                </c:pt>
                <c:pt idx="3">
                  <c:v>Мурманск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112.0</c:v>
                </c:pt>
                <c:pt idx="1">
                  <c:v>104.0</c:v>
                </c:pt>
                <c:pt idx="2">
                  <c:v>98.0</c:v>
                </c:pt>
                <c:pt idx="3">
                  <c:v>87.0</c:v>
                </c:pt>
              </c:numCache>
            </c:numRef>
          </c:val>
        </c:ser>
        <c:dLbls>
          <c:numFmt formatCode="[$-419]#,##0&quot; %&quot;" sourceLinked="0"/>
          <c:txPr>
            <a:bodyPr wrap="none"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0.png"/><Relationship Id="rId3" Type="http://schemas.openxmlformats.org/officeDocument/2006/relationships/image" Target="../media/image46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51.png"/><Relationship Id="rId7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0.png"/><Relationship Id="rId3" Type="http://schemas.openxmlformats.org/officeDocument/2006/relationships/image" Target="../media/image46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51.png"/><Relationship Id="rId7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8.png"/><Relationship Id="rId3" Type="http://schemas.openxmlformats.org/officeDocument/2006/relationships/image" Target="../media/image43.png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9.png"/><Relationship Id="rId3" Type="http://schemas.openxmlformats.org/officeDocument/2006/relationships/image" Target="../media/image147.png"/><Relationship Id="rId4" Type="http://schemas.openxmlformats.org/officeDocument/2006/relationships/image" Target="../media/image151.png"/><Relationship Id="rId5" Type="http://schemas.openxmlformats.org/officeDocument/2006/relationships/image" Target="../media/image146.png"/><Relationship Id="rId6" Type="http://schemas.openxmlformats.org/officeDocument/2006/relationships/image" Target="../media/image40.png"/><Relationship Id="rId7" Type="http://schemas.openxmlformats.org/officeDocument/2006/relationships/image" Target="../media/image26.png"/><Relationship Id="rId8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3.png"/><Relationship Id="rId3" Type="http://schemas.openxmlformats.org/officeDocument/2006/relationships/image" Target="../media/image49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image" Target="../media/image53.png"/><Relationship Id="rId7" Type="http://schemas.openxmlformats.org/officeDocument/2006/relationships/image" Target="../media/image72.png"/><Relationship Id="rId8" Type="http://schemas.openxmlformats.org/officeDocument/2006/relationships/image" Target="../media/image57.png"/><Relationship Id="rId9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2000" b="1" i="0">
                <a:solidFill>
                  <a:srgbClr val="FAFCFF"/>
                </a:solidFill>
                <a:latin typeface="Play"/>
              </a:rPr>
              <a:t>Итоги продаж сети «Северный кофе» за III квартал 2026 года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852;p60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853;p60"/>
          <p:cNvSpPr/>
          <p:nvPr/>
        </p:nvSpPr>
        <p:spPr>
          <a:xfrm>
            <a:off x="285749" y="1209852"/>
            <a:ext cx="6648415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854;p60"/>
          <p:cNvSpPr/>
          <p:nvPr/>
        </p:nvSpPr>
        <p:spPr>
          <a:xfrm>
            <a:off x="285749" y="1209852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55;p60"/>
          <p:cNvSpPr/>
          <p:nvPr/>
        </p:nvSpPr>
        <p:spPr>
          <a:xfrm>
            <a:off x="438148" y="13622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56;p60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857;p60"/>
          <p:cNvSpPr/>
          <p:nvPr/>
        </p:nvSpPr>
        <p:spPr>
          <a:xfrm>
            <a:off x="438148" y="1590803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Ключевые финансовые показатели III квартала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58;p60"/>
          <p:cNvSpPr/>
          <p:nvPr/>
        </p:nvSpPr>
        <p:spPr>
          <a:xfrm>
            <a:off x="438148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859;p60"/>
          <p:cNvSpPr/>
          <p:nvPr/>
        </p:nvSpPr>
        <p:spPr>
          <a:xfrm>
            <a:off x="3809980" y="13622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860;p60"/>
          <p:cNvSpPr/>
          <p:nvPr/>
        </p:nvSpPr>
        <p:spPr>
          <a:xfrm>
            <a:off x="380998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61;p60"/>
          <p:cNvSpPr/>
          <p:nvPr/>
        </p:nvSpPr>
        <p:spPr>
          <a:xfrm>
            <a:off x="3809980" y="1590803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Анализ каналов продаж и географии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62;p60"/>
          <p:cNvSpPr/>
          <p:nvPr/>
        </p:nvSpPr>
        <p:spPr>
          <a:xfrm>
            <a:off x="3809981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63;p60"/>
          <p:cNvSpPr/>
          <p:nvPr/>
        </p:nvSpPr>
        <p:spPr>
          <a:xfrm>
            <a:off x="285749" y="2883653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864;p60"/>
          <p:cNvSpPr/>
          <p:nvPr/>
        </p:nvSpPr>
        <p:spPr>
          <a:xfrm>
            <a:off x="438148" y="30360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65;p60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66;p60"/>
          <p:cNvSpPr/>
          <p:nvPr/>
        </p:nvSpPr>
        <p:spPr>
          <a:xfrm>
            <a:off x="438148" y="3264604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Драйверы роста и сезонные факторы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67;p60"/>
          <p:cNvSpPr/>
          <p:nvPr/>
        </p:nvSpPr>
        <p:spPr>
          <a:xfrm>
            <a:off x="438148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68;p60"/>
          <p:cNvSpPr/>
          <p:nvPr/>
        </p:nvSpPr>
        <p:spPr>
          <a:xfrm>
            <a:off x="3809980" y="30360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869;p60"/>
          <p:cNvSpPr/>
          <p:nvPr/>
        </p:nvSpPr>
        <p:spPr>
          <a:xfrm>
            <a:off x="3809981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70;p60"/>
          <p:cNvSpPr/>
          <p:nvPr/>
        </p:nvSpPr>
        <p:spPr>
          <a:xfrm>
            <a:off x="3809980" y="3264604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Стратегия и план действий на IV квартал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71;p60"/>
          <p:cNvSpPr/>
          <p:nvPr/>
        </p:nvSpPr>
        <p:spPr>
          <a:xfrm>
            <a:off x="3809981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Структура презентации: итоги и планы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4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00" b="1" i="0">
                <a:solidFill>
                  <a:srgbClr val="000000"/>
                </a:solidFill>
                <a:latin typeface="Play"/>
              </a:rPr>
              <a:t>Выручка выросла на 12% до 47,3 млн руб.</a:t>
            </a:r>
            <a:endParaRPr/>
          </a:p>
        </p:txBody>
      </p:sp>
      <p:sp>
        <p:nvSpPr>
          <p:cNvPr id="6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43234" y="1664110"/>
            <a:ext cx="4320556" cy="77828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000000"/>
                </a:solidFill>
                <a:latin typeface="Play"/>
              </a:rPr>
              <a:t>Рост выручки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3234" y="2442392"/>
            <a:ext cx="4320556" cy="951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Play"/>
              </a:rPr>
              <a:t>+12% к II кварталу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Play"/>
              </a:rPr>
              <a:t>47,3 млн руб. за III кв.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Google Shape;980;p63"/>
          <p:cNvSpPr txBox="1"/>
          <p:nvPr>
            <p:ph type="title"/>
          </p:nvPr>
        </p:nvSpPr>
        <p:spPr>
          <a:xfrm>
            <a:off x="167921" y="208784"/>
            <a:ext cx="6792985" cy="431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00" b="1" i="0">
                <a:solidFill>
                  <a:srgbClr val="000000"/>
                </a:solidFill>
                <a:latin typeface="Play"/>
              </a:rPr>
              <a:t>Выручка росла каждый месяц квартала</a:t>
            </a:r>
            <a:endParaRPr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177362" y="811902"/>
          <a:ext cx="8688709" cy="3738094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Google Shape;966;p63"/>
          <p:cNvSpPr/>
          <p:nvPr/>
        </p:nvSpPr>
        <p:spPr>
          <a:xfrm>
            <a:off x="685797" y="1474640"/>
            <a:ext cx="3957838" cy="75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Пробито 134 150 чеков за квартал</a:t>
            </a:r>
            <a:endParaRPr b="0" i="0" sz="270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980;p63"/>
          <p:cNvSpPr txBox="1"/>
          <p:nvPr>
            <p:ph type="title"/>
          </p:nvPr>
        </p:nvSpPr>
        <p:spPr>
          <a:xfrm>
            <a:off x="167921" y="208784"/>
            <a:ext cx="6792985" cy="431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00" b="1" i="0">
                <a:solidFill>
                  <a:srgbClr val="000000"/>
                </a:solidFill>
                <a:latin typeface="Play"/>
              </a:rPr>
              <a:t>Рост обеспечен увеличением трафика</a:t>
            </a:r>
            <a:endParaRPr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177362" y="811902"/>
          <a:ext cx="8688709" cy="3738094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4" name="Google Shape;845;p5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00" b="1" i="0">
                <a:solidFill>
                  <a:srgbClr val="000000"/>
                </a:solidFill>
                <a:latin typeface="Play"/>
              </a:rPr>
              <a:t>Средний чек вырос до 353 руб.</a:t>
            </a:r>
            <a:endParaRPr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177362" y="1178602"/>
          <a:ext cx="8688709" cy="337139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68;p55"/>
          <p:cNvSpPr/>
          <p:nvPr/>
        </p:nvSpPr>
        <p:spPr>
          <a:xfrm>
            <a:off x="438148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Доставка: +41% к прошлому кварталу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673;p55"/>
          <p:cNvSpPr/>
          <p:nvPr/>
        </p:nvSpPr>
        <p:spPr>
          <a:xfrm>
            <a:off x="2605074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Предзаказ в приложении &gt; корпоративные заказы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676;p55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677;p55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78;p55"/>
          <p:cNvSpPr/>
          <p:nvPr/>
        </p:nvSpPr>
        <p:spPr>
          <a:xfrm>
            <a:off x="4772001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Доля зала: 65% выручки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679;p55"/>
          <p:cNvSpPr/>
          <p:nvPr/>
        </p:nvSpPr>
        <p:spPr>
          <a:xfrm>
            <a:off x="4772001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Доставка выросла на 41%, предзаказ обогнал корпоративные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2372;p8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00" b="1" i="0">
                <a:solidFill>
                  <a:srgbClr val="000000"/>
                </a:solidFill>
                <a:latin typeface="Play"/>
              </a:rPr>
              <a:t>Доля каналов продаж: зал лидирует</a:t>
            </a:r>
            <a:endParaRPr/>
          </a:p>
        </p:txBody>
      </p:sp>
      <p:sp>
        <p:nvSpPr>
          <p:cNvPr id="21" name="Google Shape;2374;p87"/>
          <p:cNvSpPr txBox="1"/>
          <p:nvPr/>
        </p:nvSpPr>
        <p:spPr>
          <a:xfrm>
            <a:off x="7099707" y="671777"/>
            <a:ext cx="2044293" cy="533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b="0" i="0" sz="3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" name="Google Shape;2379;p87"/>
          <p:cNvSpPr/>
          <p:nvPr/>
        </p:nvSpPr>
        <p:spPr>
          <a:xfrm>
            <a:off x="7099707" y="890962"/>
            <a:ext cx="629150" cy="230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177362" y="1178602"/>
          <a:ext cx="8688709" cy="3371394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3" name="Google Shape;2428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732082"/>
            <a:ext cx="8515008" cy="926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429;p89"/>
          <p:cNvSpPr/>
          <p:nvPr/>
        </p:nvSpPr>
        <p:spPr>
          <a:xfrm>
            <a:off x="553415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431;p89"/>
          <p:cNvSpPr/>
          <p:nvPr/>
        </p:nvSpPr>
        <p:spPr>
          <a:xfrm>
            <a:off x="3565736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432;p89"/>
          <p:cNvSpPr/>
          <p:nvPr/>
        </p:nvSpPr>
        <p:spPr>
          <a:xfrm>
            <a:off x="3565736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00" b="1" i="0">
                <a:solidFill>
                  <a:srgbClr val="000000"/>
                </a:solidFill>
                <a:latin typeface="Play"/>
              </a:rPr>
              <a:t>Сентябрь стал главным драйвером роста</a:t>
            </a:r>
            <a:endParaRPr/>
          </a:p>
        </p:txBody>
      </p:sp>
      <p:sp>
        <p:nvSpPr>
          <p:cNvPr id="11" name="Google Shape;2436;p89"/>
          <p:cNvSpPr/>
          <p:nvPr/>
        </p:nvSpPr>
        <p:spPr>
          <a:xfrm>
            <a:off x="511399" y="2111328"/>
            <a:ext cx="1614880" cy="389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3" b="0" i="0">
                <a:solidFill>
                  <a:srgbClr val="000000"/>
                </a:solidFill>
                <a:latin typeface="Play"/>
              </a:rPr>
              <a:t>«Сентябрь показал, что гости возвращаются, если меню меняется вместе с сезоном»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00000"/>
              </a:lnSpc>
            </a:pPr>
            <a:r>
              <a:rPr sz="413" b="0" i="0">
                <a:solidFill>
                  <a:srgbClr val="000000"/>
                </a:solidFill>
                <a:latin typeface="Play"/>
              </a:rPr>
              <a:t>— Анна Лебедева, операционный директор сети</a:t>
            </a:r>
          </a:p>
        </p:txBody>
      </p:sp>
      <p:sp>
        <p:nvSpPr>
          <p:cNvPr id="12" name="Google Shape;2437;p89"/>
          <p:cNvSpPr/>
          <p:nvPr/>
        </p:nvSpPr>
        <p:spPr>
          <a:xfrm>
            <a:off x="511399" y="232862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2438;p89"/>
          <p:cNvSpPr/>
          <p:nvPr/>
        </p:nvSpPr>
        <p:spPr>
          <a:xfrm>
            <a:off x="511399" y="300221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05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" name="Google Shape;2439;p89"/>
          <p:cNvSpPr/>
          <p:nvPr/>
        </p:nvSpPr>
        <p:spPr>
          <a:xfrm>
            <a:off x="3565736" y="2111328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440;p89"/>
          <p:cNvSpPr/>
          <p:nvPr/>
        </p:nvSpPr>
        <p:spPr>
          <a:xfrm>
            <a:off x="3565736" y="232862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Google Shape;2441;p89"/>
          <p:cNvSpPr/>
          <p:nvPr/>
        </p:nvSpPr>
        <p:spPr>
          <a:xfrm>
            <a:off x="3565736" y="300221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05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23720" y="2111328"/>
            <a:ext cx="1614880" cy="3898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000000"/>
                </a:solidFill>
                <a:latin typeface="Play"/>
              </a:rPr>
              <a:t>Сезонное меню и студенты обеспечили пик продаж в сентябре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4" name="Google Shape;1017;p64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СПб выполнил план на 112%, Мурманск на 87%</a:t>
            </a:r>
            <a:endParaRPr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177362" y="1178602"/>
          <a:ext cx="8688709" cy="3371394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027;p65"/>
          <p:cNvSpPr/>
          <p:nvPr/>
        </p:nvSpPr>
        <p:spPr>
          <a:xfrm>
            <a:off x="6064222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descr=" " id="4" name="Google Shape;102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03313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descr=" " id="6" name="Google Shape;1030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0249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34;p65"/>
          <p:cNvSpPr/>
          <p:nvPr/>
        </p:nvSpPr>
        <p:spPr>
          <a:xfrm>
            <a:off x="476248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035;p65"/>
          <p:cNvSpPr/>
          <p:nvPr/>
        </p:nvSpPr>
        <p:spPr>
          <a:xfrm>
            <a:off x="476248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036;p65"/>
          <p:cNvSpPr/>
          <p:nvPr/>
        </p:nvSpPr>
        <p:spPr>
          <a:xfrm>
            <a:off x="476248" y="1628898"/>
            <a:ext cx="2463787" cy="8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Запуск программы лояльности в приложении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037;p65"/>
          <p:cNvSpPr/>
          <p:nvPr/>
        </p:nvSpPr>
        <p:spPr>
          <a:xfrm>
            <a:off x="2422509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descr=" " id="14" name="Google Shape;103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2506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" name="Google Shape;103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59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040;p65"/>
          <p:cNvSpPr/>
          <p:nvPr/>
        </p:nvSpPr>
        <p:spPr>
          <a:xfrm>
            <a:off x="3365480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041;p65"/>
          <p:cNvSpPr/>
          <p:nvPr/>
        </p:nvSpPr>
        <p:spPr>
          <a:xfrm>
            <a:off x="3365480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042;p65"/>
          <p:cNvSpPr/>
          <p:nvPr/>
        </p:nvSpPr>
        <p:spPr>
          <a:xfrm>
            <a:off x="3365479" y="1628898"/>
            <a:ext cx="2463787" cy="8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Пересмотр условий для корпоративных клиентов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043;p65"/>
          <p:cNvSpPr/>
          <p:nvPr/>
        </p:nvSpPr>
        <p:spPr>
          <a:xfrm>
            <a:off x="5311741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descr=" " id="20" name="Google Shape;10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5091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045;p65"/>
          <p:cNvSpPr/>
          <p:nvPr/>
        </p:nvSpPr>
        <p:spPr>
          <a:xfrm>
            <a:off x="6254721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046;p65"/>
          <p:cNvSpPr/>
          <p:nvPr/>
        </p:nvSpPr>
        <p:spPr>
          <a:xfrm>
            <a:off x="6254721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1047;p65"/>
          <p:cNvSpPr/>
          <p:nvPr/>
        </p:nvSpPr>
        <p:spPr>
          <a:xfrm>
            <a:off x="6254721" y="1628898"/>
            <a:ext cx="2463787" cy="8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Открытие двух точек в Мурманске после ремонта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048;p65"/>
          <p:cNvSpPr/>
          <p:nvPr/>
        </p:nvSpPr>
        <p:spPr>
          <a:xfrm>
            <a:off x="8200982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descr=" " id="25" name="Google Shape;104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32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050;p6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План на IV квартал: лояльность и новые точки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47;p4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sz="2438" b="1" i="0">
                <a:solidFill>
                  <a:srgbClr val="000000"/>
                </a:solidFill>
                <a:latin typeface="Play"/>
              </a:rPr>
              <a:t>Утвердить план действий на IV квартал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