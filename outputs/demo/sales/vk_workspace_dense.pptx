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697E96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15.1</c:v>
                </c:pt>
                <c:pt idx="2">
                  <c:v>18.0</c:v>
                </c:pt>
              </c:numCache>
            </c:numRef>
          </c:val>
        </c:ser>
        <c:dLbls>
          <c:numFmt formatCode="[$-419]#,##0.0&quot; млн руб.&quot;" sourceLinked="0"/>
          <c:txPr>
            <a:bodyPr wrap="none"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70C3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каналам продаж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00D3E3"/>
              </a:solidFill>
            </c:spPr>
          </c:dPt>
          <c:dPt>
            <c:idx val="2"/>
            <c:spPr>
              <a:solidFill>
                <a:srgbClr val="00AEE8"/>
              </a:solidFill>
            </c:spPr>
          </c:dPt>
          <c:dPt>
            <c:idx val="3"/>
            <c:spPr>
              <a:solidFill>
                <a:srgbClr val="EB4250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70C3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Продажи в зале</c:v>
                </c:pt>
                <c:pt idx="1">
                  <c:v>Доставка</c:v>
                </c:pt>
                <c:pt idx="2">
                  <c:v>Предзаказ в приложении</c:v>
                </c:pt>
                <c:pt idx="3">
                  <c:v>Корпоративные заказы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30.7</c:v>
                </c:pt>
                <c:pt idx="1">
                  <c:v>8.5</c:v>
                </c:pt>
                <c:pt idx="2">
                  <c:v>4.7</c:v>
                </c:pt>
                <c:pt idx="3">
                  <c:v>3.4</c:v>
                </c:pt>
              </c:numCache>
            </c:numRef>
          </c:val>
        </c:ser>
        <c:dLbls>
          <c:numFmt formatCode="[$-419]#,##0.0&quot; млн руб.&quot;" sourceLinked="0"/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70C3FF"/>
          </a:solidFill>
          <a:latin typeface="Play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городам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697E96"/>
              </a:solidFill>
            </c:spPr>
          </c:dPt>
          <c:dPt>
            <c:idx val="2"/>
            <c:spPr>
              <a:solidFill>
                <a:srgbClr val="697E96"/>
              </a:solidFill>
            </c:spPr>
          </c:dPt>
          <c:dPt>
            <c:idx val="3"/>
            <c:spPr>
              <a:solidFill>
                <a:srgbClr val="0077FF"/>
              </a:solidFill>
            </c:spPr>
          </c:dPt>
          <c:cat>
            <c:strRef>
              <c:f>Sheet1!$A$2:$A$5</c:f>
              <c:strCache>
                <c:ptCount val="4"/>
                <c:pt idx="0">
                  <c:v>Санкт-Петербург</c:v>
                </c:pt>
                <c:pt idx="1">
                  <c:v>Петрозаводск</c:v>
                </c:pt>
                <c:pt idx="2">
                  <c:v>Мурманск</c:v>
                </c:pt>
                <c:pt idx="3">
                  <c:v>Архангельск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26.6</c:v>
                </c:pt>
                <c:pt idx="1">
                  <c:v>9.8</c:v>
                </c:pt>
                <c:pt idx="2">
                  <c:v>6.2</c:v>
                </c:pt>
                <c:pt idx="3">
                  <c:v>4.7</c:v>
                </c:pt>
              </c:numCache>
            </c:numRef>
          </c:val>
        </c:ser>
        <c:dLbls>
          <c:numFmt formatCode="[$-419]#,##0.0&quot; млн руб.&quot;" sourceLinked="0"/>
          <c:txPr>
            <a:bodyPr wrap="none"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70C3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Рост выручки на 12% к II кварталу обеспечен увеличением трафика (f5).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Сентябрь показал лучший результат благодаря сезонному меню и студентам (f6).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Парадокс: рост выручки за счет трафика, а не чека (f5).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зале 30,7 млн руб. (f7). Доставка выросла на 41% (f8). Предзаказ обогнал корпоратив (f9).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Рост доставки на 41% к II кварталу (f8).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Впервые предзаказ в приложении (4,7 млн) превысил корпоративные заказы (3,4 млн) (f9).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СПб выполнил план на 112% (f10). Мурманск на 87% из-за ремонта (f11).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Недовыполнение плана в Мурманске связано с ремонтом двух точек (f11).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Цитата операционного директора Анны Лебедевой (q1).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IV квартале запускается программа лояльности (f12) и пересмотр условий для корпоративных клиентов (f13).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IV квартале откроются две точки в Мурманске после ремонта ТЦ (f14).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Итоги продаж сети «Северный кофе» за III квартал 2026 года</a:t>
            </a:r>
            <a:endParaRPr sz="4800"/>
          </a:p>
        </p:txBody>
      </p:sp>
      <p:sp>
        <p:nvSpPr>
          <p:cNvPr id="3" name="Google Shape;382;p17"/>
          <p:cNvSpPr/>
          <p:nvPr/>
        </p:nvSpPr>
        <p:spPr>
          <a:xfrm>
            <a:off x="429254" y="4682210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39;p4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Структура презентации</a:t>
            </a:r>
            <a:endParaRPr/>
          </a:p>
        </p:txBody>
      </p:sp>
      <p:sp>
        <p:nvSpPr>
          <p:cNvPr id="3" name="Google Shape;840;p42"/>
          <p:cNvSpPr txBox="1"/>
          <p:nvPr/>
        </p:nvSpPr>
        <p:spPr>
          <a:xfrm>
            <a:off x="429253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Общие финансовые итоги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" name="Google Shape;841;p42"/>
          <p:cNvSpPr txBox="1"/>
          <p:nvPr/>
        </p:nvSpPr>
        <p:spPr>
          <a:xfrm>
            <a:off x="3319410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Динамика по месяцам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842;p42"/>
          <p:cNvSpPr txBox="1"/>
          <p:nvPr/>
        </p:nvSpPr>
        <p:spPr>
          <a:xfrm>
            <a:off x="6209568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Каналы продаж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843;p42"/>
          <p:cNvSpPr txBox="1"/>
          <p:nvPr/>
        </p:nvSpPr>
        <p:spPr>
          <a:xfrm>
            <a:off x="9099725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География и планы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848;p42"/>
          <p:cNvSpPr/>
          <p:nvPr/>
        </p:nvSpPr>
        <p:spPr>
          <a:xfrm>
            <a:off x="1036895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849;p42"/>
          <p:cNvSpPr/>
          <p:nvPr/>
        </p:nvSpPr>
        <p:spPr>
          <a:xfrm>
            <a:off x="935850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850;p42"/>
          <p:cNvSpPr/>
          <p:nvPr/>
        </p:nvSpPr>
        <p:spPr>
          <a:xfrm>
            <a:off x="3750944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" name="Google Shape;851;p42"/>
          <p:cNvSpPr/>
          <p:nvPr/>
        </p:nvSpPr>
        <p:spPr>
          <a:xfrm>
            <a:off x="6642404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" name="Google Shape;852;p42"/>
          <p:cNvSpPr/>
          <p:nvPr/>
        </p:nvSpPr>
        <p:spPr>
          <a:xfrm>
            <a:off x="9476594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Google Shape;799;p40"/>
          <p:cNvPicPr preferRelativeResize="0"/>
          <p:nvPr/>
        </p:nvPicPr>
        <p:blipFill rotWithShape="1">
          <a:blip r:embed="rId2">
            <a:alphaModFix/>
          </a:blip>
          <a:srcRect b="12714" l="0" r="50023" t="66636"/>
          <a:stretch/>
        </p:blipFill>
        <p:spPr>
          <a:xfrm>
            <a:off x="794" y="5443140"/>
            <a:ext cx="6093175" cy="14148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00;p40"/>
          <p:cNvSpPr/>
          <p:nvPr/>
        </p:nvSpPr>
        <p:spPr>
          <a:xfrm>
            <a:off x="1" y="5894615"/>
            <a:ext cx="4487332" cy="96338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01;p40"/>
          <p:cNvSpPr/>
          <p:nvPr/>
        </p:nvSpPr>
        <p:spPr>
          <a:xfrm>
            <a:off x="4487333" y="5248804"/>
            <a:ext cx="1608667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02;p40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</a:pPr>
            <a:r>
              <a:rPr sz="4000" b="1" i="0">
                <a:solidFill>
                  <a:srgbClr val="FFFFFF"/>
                </a:solidFill>
                <a:latin typeface="Play"/>
              </a:rPr>
              <a:t>Выручка выросла на 12% до 47,3 млн руб.</a:t>
            </a:r>
            <a:endParaRPr b="1" sz="6600"/>
          </a:p>
        </p:txBody>
      </p:sp>
      <p:sp>
        <p:nvSpPr>
          <p:cNvPr id="7" name="Google Shape;803;p40"/>
          <p:cNvSpPr/>
          <p:nvPr/>
        </p:nvSpPr>
        <p:spPr>
          <a:xfrm>
            <a:off x="7772400" y="1498563"/>
            <a:ext cx="3485318" cy="3485318"/>
          </a:xfrm>
          <a:prstGeom prst="roundRect">
            <a:avLst>
              <a:gd fmla="val 8631" name="adj"/>
            </a:avLst>
          </a:prstGeom>
          <a:solidFill>
            <a:schemeClr val="lt1"/>
          </a:solidFill>
          <a:ln cap="flat" cmpd="sng" w="12700">
            <a:solidFill>
              <a:srgbClr val="00326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47,3 млн руб.</a:t>
            </a:r>
            <a:endParaRPr/>
          </a:p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Play"/>
              </a:rPr>
              <a:t>12% рост</a:t>
            </a:r>
          </a:p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Play"/>
              </a:rPr>
              <a:t>134 150 чеков</a:t>
            </a:r>
          </a:p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Play"/>
              </a:rPr>
              <a:t>353 руб. средний чек</a:t>
            </a:r>
          </a:p>
        </p:txBody>
      </p:sp>
      <p:sp>
        <p:nvSpPr>
          <p:cNvPr id="8" name="Google Shape;804;p40"/>
          <p:cNvSpPr/>
          <p:nvPr/>
        </p:nvSpPr>
        <p:spPr>
          <a:xfrm>
            <a:off x="429254" y="3937561"/>
            <a:ext cx="2645228" cy="751114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FFFFFF"/>
                </a:solidFill>
                <a:latin typeface="Play"/>
              </a:rPr>
              <a:t>Рост обеспечен трафиком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9" name="Google Shape;80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0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664179">
            <a:off x="6268133" y="2670334"/>
            <a:ext cx="4113929" cy="3938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49;p37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Сентябрь стал драйвером роста выручки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9484" y="1431024"/>
          <a:ext cx="11330286" cy="456794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Рост числа чеков и среднего чека</a:t>
            </a:r>
            <a:endParaRPr/>
          </a:p>
        </p:txBody>
      </p:sp>
      <p:sp>
        <p:nvSpPr>
          <p:cNvPr id="4" name="Google Shape;711;p33"/>
          <p:cNvSpPr txBox="1"/>
          <p:nvPr/>
        </p:nvSpPr>
        <p:spPr>
          <a:xfrm>
            <a:off x="6316808" y="3598223"/>
            <a:ext cx="4739119" cy="258974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9484" y="1820863"/>
          <a:ext cx="11330286" cy="2377440"/>
        </p:xfrm>
        <a:graphic>
          <a:graphicData uri="http://schemas.openxmlformats.org/drawingml/2006/table">
            <a:tbl>
              <a:tblPr firstRow="1"/>
              <a:tblGrid>
                <a:gridCol w="3776762"/>
                <a:gridCol w="3776762"/>
                <a:gridCol w="3776762"/>
              </a:tblGrid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lay"/>
                        </a:rPr>
                        <a:t>Число чеков по месяцам, чеков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lay"/>
                        </a:rPr>
                        <a:t>Средний чек по месяцам, руб.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июль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41 380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343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7EA"/>
                          </a:solidFill>
                          <a:latin typeface="Play"/>
                        </a:rPr>
                        <a:t>август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7EA"/>
                          </a:solidFill>
                          <a:latin typeface="Play"/>
                        </a:rPr>
                        <a:t>43 050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7EA"/>
                          </a:solidFill>
                          <a:latin typeface="Play"/>
                        </a:rPr>
                        <a:t>351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сентябрь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49 720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362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49;p37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Продажи в зале — 65% выручки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9484" y="1431024"/>
          <a:ext cx="11330286" cy="456794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Google Shape;699;p32"/>
          <p:cNvSpPr/>
          <p:nvPr/>
        </p:nvSpPr>
        <p:spPr>
          <a:xfrm>
            <a:off x="7827149" y="1971330"/>
            <a:ext cx="3597513" cy="3443958"/>
          </a:xfrm>
          <a:prstGeom prst="roundRect">
            <a:avLst>
              <a:gd fmla="val 5112" name="adj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700;p32"/>
          <p:cNvSpPr/>
          <p:nvPr/>
        </p:nvSpPr>
        <p:spPr>
          <a:xfrm>
            <a:off x="7989513" y="2196653"/>
            <a:ext cx="34351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01;p32"/>
          <p:cNvSpPr/>
          <p:nvPr/>
        </p:nvSpPr>
        <p:spPr>
          <a:xfrm>
            <a:off x="7989513" y="2841868"/>
            <a:ext cx="3129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marL="136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sz="1200" b="0" i="0">
                <a:solidFill>
                  <a:srgbClr val="70C3FF"/>
                </a:solidFill>
                <a:latin typeface="Play"/>
              </a:rPr>
              <a:t>Ключевой драйвер роста онлайн-каналов</a:t>
            </a:r>
            <a:endParaRPr/>
          </a:p>
        </p:txBody>
      </p:sp>
      <p:sp>
        <p:nvSpPr>
          <p:cNvPr id="15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Доставка выросла на 41% к прошлому кварталу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Предзаказ в приложении обогнал корпоративные</a:t>
            </a:r>
            <a:endParaRPr/>
          </a:p>
        </p:txBody>
      </p:sp>
      <p:sp>
        <p:nvSpPr>
          <p:cNvPr id="4" name="Google Shape;720;p34"/>
          <p:cNvSpPr txBox="1"/>
          <p:nvPr/>
        </p:nvSpPr>
        <p:spPr>
          <a:xfrm>
            <a:off x="429253" y="1773238"/>
            <a:ext cx="3879511" cy="3166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>
                <a:solidFill>
                  <a:srgbClr val="FFFFFF"/>
                </a:solidFill>
                <a:latin typeface="Play"/>
              </a:rPr>
              <a:t>4,7 млн руб. приложение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FFFFFF"/>
                </a:solidFill>
                <a:latin typeface="Play"/>
              </a:rPr>
              <a:t>3,4 млн руб. корпоратив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Санкт-Петербург выполнил план на 112%</a:t>
            </a:r>
            <a:endParaRPr/>
          </a:p>
        </p:txBody>
      </p:sp>
      <p:sp>
        <p:nvSpPr>
          <p:cNvPr id="5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9484" y="1820863"/>
          <a:ext cx="11330286" cy="44509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Мурманск выполнил план на 87% из-за ремонта</a:t>
            </a:r>
            <a:endParaRPr/>
          </a:p>
        </p:txBody>
      </p:sp>
      <p:sp>
        <p:nvSpPr>
          <p:cNvPr id="5" name="Google Shape;681;p3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>
                <a:solidFill>
                  <a:srgbClr val="E4E7EA"/>
                </a:solidFill>
                <a:latin typeface="Play"/>
              </a:rPr>
              <a:t>Ремонт двух точек в ТЦ «Полярный»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441;p2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Меню меняется вместе с сезоном</a:t>
            </a:r>
            <a:endParaRPr/>
          </a:p>
        </p:txBody>
      </p:sp>
      <p:sp>
        <p:nvSpPr>
          <p:cNvPr id="3" name="Google Shape;442;p21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5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" name="Google Shape;445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TextBox 14"/>
          <p:cNvSpPr txBox="1"/>
          <p:nvPr/>
        </p:nvSpPr>
        <p:spPr>
          <a:xfrm>
            <a:off x="6222069" y="860119"/>
            <a:ext cx="5079002" cy="17056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4E7EA"/>
                </a:solidFill>
                <a:latin typeface="Play"/>
              </a:rPr>
              <a:t>«Сентябрь показал, что гости возвращаются, если меню меняется вместе с сезоном»</a:t>
            </a:r>
          </a:p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4E7EA"/>
                </a:solidFill>
                <a:latin typeface="Play"/>
              </a:rPr>
              <a:t>— Анна Лебедева, операционный директор сети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Запуск программы лояльности в приложении</a:t>
            </a:r>
            <a:endParaRPr/>
          </a:p>
        </p:txBody>
      </p:sp>
      <p:sp>
        <p:nvSpPr>
          <p:cNvPr id="4" name="Google Shape;461;p22"/>
          <p:cNvSpPr/>
          <p:nvPr/>
        </p:nvSpPr>
        <p:spPr>
          <a:xfrm>
            <a:off x="4056891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62;p2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63;p22"/>
          <p:cNvSpPr txBox="1"/>
          <p:nvPr/>
        </p:nvSpPr>
        <p:spPr>
          <a:xfrm>
            <a:off x="596659" y="3258988"/>
            <a:ext cx="3057144" cy="193251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E4E7EA"/>
                </a:solidFill>
                <a:latin typeface="Play"/>
              </a:rPr>
              <a:t>Запуск лояльности в приложении</a:t>
            </a:r>
            <a:endParaRPr/>
          </a:p>
        </p:txBody>
      </p:sp>
      <p:pic>
        <p:nvPicPr>
          <p:cNvPr id="7" name="Google Shape;46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6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65;p22"/>
          <p:cNvSpPr txBox="1"/>
          <p:nvPr/>
        </p:nvSpPr>
        <p:spPr>
          <a:xfrm>
            <a:off x="4240405" y="3258988"/>
            <a:ext cx="3057144" cy="193251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E4E7EA"/>
                </a:solidFill>
                <a:latin typeface="Play"/>
              </a:rPr>
              <a:t>Пересмотр условий для B2B</a:t>
            </a:r>
            <a:endParaRPr/>
          </a:p>
        </p:txBody>
      </p:sp>
      <p:pic>
        <p:nvPicPr>
          <p:cNvPr id="9" name="Google Shape;46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40404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Открытие двух точек в Мурманске</a:t>
            </a:r>
            <a:endParaRPr/>
          </a:p>
        </p:txBody>
      </p:sp>
      <p:sp>
        <p:nvSpPr>
          <p:cNvPr id="4" name="Google Shape;720;p34"/>
          <p:cNvSpPr txBox="1"/>
          <p:nvPr/>
        </p:nvSpPr>
        <p:spPr>
          <a:xfrm>
            <a:off x="429253" y="1773238"/>
            <a:ext cx="3879511" cy="3166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0" i="0">
                <a:solidFill>
                  <a:srgbClr val="70C3FF"/>
                </a:solidFill>
                <a:latin typeface="Play"/>
              </a:rPr>
              <a:t>Открытие точек после ремонта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80;p4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sz="4800" b="1" i="0">
                <a:solidFill>
                  <a:srgbClr val="FFFFFF"/>
                </a:solidFill>
                <a:latin typeface="Play"/>
              </a:rPr>
              <a:t>Спасибо за внимание</a:t>
            </a:r>
            <a:endParaRPr/>
          </a:p>
        </p:txBody>
      </p:sp>
      <p:sp>
        <p:nvSpPr>
          <p:cNvPr id="3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82;p45"/>
          <p:cNvSpPr txBox="1"/>
          <p:nvPr/>
        </p:nvSpPr>
        <p:spPr>
          <a:xfrm>
            <a:off x="1510259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84;p45"/>
          <p:cNvSpPr txBox="1"/>
          <p:nvPr/>
        </p:nvSpPr>
        <p:spPr>
          <a:xfrm>
            <a:off x="4580031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885;p45"/>
          <p:cNvSpPr/>
          <p:nvPr/>
        </p:nvSpPr>
        <p:spPr>
          <a:xfrm>
            <a:off x="9282341" y="633414"/>
            <a:ext cx="2501672" cy="2501672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