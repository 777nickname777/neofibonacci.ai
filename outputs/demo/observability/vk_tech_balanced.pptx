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Среднее время обнаружения инцидента составляет 42 минуты. Это критично для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Команды используют в среднем 4 разные системы мониторинга, что создает информационный шум.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ходе пилота в двух командах время обнаружения инцидента сократилось с 42 до 9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Улучшение происходило постепенно: в первый месяц время сократилось вдвое, во второй — до целевых 9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0.png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3" Type="http://schemas.openxmlformats.org/officeDocument/2006/relationships/image" Target="../media/image43.png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3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2000" b="1" i="0">
                <a:solidFill>
                  <a:srgbClr val="FAFCFF"/>
                </a:solidFill>
                <a:latin typeface="Play"/>
              </a:rPr>
              <a:t>Платформа наблюдаемости для инженерных команд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851;p60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52;p60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53;p60"/>
          <p:cNvSpPr/>
          <p:nvPr/>
        </p:nvSpPr>
        <p:spPr>
          <a:xfrm>
            <a:off x="285749" y="1209852"/>
            <a:ext cx="6648415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54;p60"/>
          <p:cNvSpPr/>
          <p:nvPr/>
        </p:nvSpPr>
        <p:spPr>
          <a:xfrm>
            <a:off x="285749" y="1209852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55;p60"/>
          <p:cNvSpPr/>
          <p:nvPr/>
        </p:nvSpPr>
        <p:spPr>
          <a:xfrm>
            <a:off x="438148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56;p60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857;p60"/>
          <p:cNvSpPr/>
          <p:nvPr/>
        </p:nvSpPr>
        <p:spPr>
          <a:xfrm>
            <a:off x="438148" y="1590803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Проблема фрагментации инструментов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58;p60"/>
          <p:cNvSpPr/>
          <p:nvPr/>
        </p:nvSpPr>
        <p:spPr>
          <a:xfrm>
            <a:off x="438148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59;p60"/>
          <p:cNvSpPr/>
          <p:nvPr/>
        </p:nvSpPr>
        <p:spPr>
          <a:xfrm>
            <a:off x="3809980" y="13622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60;p60"/>
          <p:cNvSpPr/>
          <p:nvPr/>
        </p:nvSpPr>
        <p:spPr>
          <a:xfrm>
            <a:off x="380998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61;p60"/>
          <p:cNvSpPr/>
          <p:nvPr/>
        </p:nvSpPr>
        <p:spPr>
          <a:xfrm>
            <a:off x="3809980" y="1590803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Решение: единая платформа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62;p60"/>
          <p:cNvSpPr/>
          <p:nvPr/>
        </p:nvSpPr>
        <p:spPr>
          <a:xfrm>
            <a:off x="3809981" y="1819373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63;p60"/>
          <p:cNvSpPr/>
          <p:nvPr/>
        </p:nvSpPr>
        <p:spPr>
          <a:xfrm>
            <a:off x="285749" y="2883653"/>
            <a:ext cx="6648415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864;p60"/>
          <p:cNvSpPr/>
          <p:nvPr/>
        </p:nvSpPr>
        <p:spPr>
          <a:xfrm>
            <a:off x="438148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65;p60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66;p60"/>
          <p:cNvSpPr/>
          <p:nvPr/>
        </p:nvSpPr>
        <p:spPr>
          <a:xfrm>
            <a:off x="438148" y="3264604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Результаты пилотного проекта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67;p60"/>
          <p:cNvSpPr/>
          <p:nvPr/>
        </p:nvSpPr>
        <p:spPr>
          <a:xfrm>
            <a:off x="438148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68;p60"/>
          <p:cNvSpPr/>
          <p:nvPr/>
        </p:nvSpPr>
        <p:spPr>
          <a:xfrm>
            <a:off x="3809980" y="3036033"/>
            <a:ext cx="297178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869;p60"/>
          <p:cNvSpPr/>
          <p:nvPr/>
        </p:nvSpPr>
        <p:spPr>
          <a:xfrm>
            <a:off x="3809981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70;p60"/>
          <p:cNvSpPr/>
          <p:nvPr/>
        </p:nvSpPr>
        <p:spPr>
          <a:xfrm>
            <a:off x="3809980" y="3264604"/>
            <a:ext cx="3022584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План запуска пилота в вашей команде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71;p60"/>
          <p:cNvSpPr/>
          <p:nvPr/>
        </p:nvSpPr>
        <p:spPr>
          <a:xfrm>
            <a:off x="3809981" y="3493174"/>
            <a:ext cx="3009884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872;p60"/>
          <p:cNvSpPr txBox="1"/>
          <p:nvPr>
            <p:ph type="title"/>
          </p:nvPr>
        </p:nvSpPr>
        <p:spPr>
          <a:xfrm>
            <a:off x="177971" y="282949"/>
            <a:ext cx="502540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Повестка презентации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42 минуты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Play"/>
              </a:rPr>
              <a:t>MTTD</a:t>
            </a: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Высокое время обнаружения увеличивает простой сервисов и нагрузку на инженеров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Инциденты обнаруживаются слишком медленно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4 системы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Play"/>
              </a:rPr>
              <a:t>Систем мониторинга</a:t>
            </a: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Фрагментация данных усложняет диагностику и требует контекстного переключения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Инженеры тратят время на переключение между системами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80;p58"/>
          <p:cNvSpPr/>
          <p:nvPr/>
        </p:nvSpPr>
        <p:spPr>
          <a:xfrm>
            <a:off x="438148" y="1590803"/>
            <a:ext cx="2539987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Агрегация метрик, логов и трейсов в одном окне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82;p58"/>
          <p:cNvSpPr/>
          <p:nvPr/>
        </p:nvSpPr>
        <p:spPr>
          <a:xfrm>
            <a:off x="3174981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83;p58"/>
          <p:cNvSpPr/>
          <p:nvPr/>
        </p:nvSpPr>
        <p:spPr>
          <a:xfrm>
            <a:off x="3327380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84;p58"/>
          <p:cNvSpPr/>
          <p:nvPr/>
        </p:nvSpPr>
        <p:spPr>
          <a:xfrm>
            <a:off x="3327380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85;p58"/>
          <p:cNvSpPr/>
          <p:nvPr/>
        </p:nvSpPr>
        <p:spPr>
          <a:xfrm>
            <a:off x="3327380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Устранение необходимости переключаться между системами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786;p58"/>
          <p:cNvSpPr/>
          <p:nvPr/>
        </p:nvSpPr>
        <p:spPr>
          <a:xfrm>
            <a:off x="3327380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790;p58"/>
          <p:cNvSpPr/>
          <p:nvPr/>
        </p:nvSpPr>
        <p:spPr>
          <a:xfrm>
            <a:off x="6216621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Единый источник истины для всех команд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Единая платформа заменяет разрозненные инструменты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59;p66"/>
          <p:cNvSpPr/>
          <p:nvPr/>
        </p:nvSpPr>
        <p:spPr>
          <a:xfrm>
            <a:off x="4048160" y="486418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Сбор данных из всех источников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63;p66"/>
          <p:cNvSpPr/>
          <p:nvPr/>
        </p:nvSpPr>
        <p:spPr>
          <a:xfrm>
            <a:off x="4048160" y="1672317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Корреляция событий в реальном времени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067;p66"/>
          <p:cNvSpPr/>
          <p:nvPr/>
        </p:nvSpPr>
        <p:spPr>
          <a:xfrm>
            <a:off x="4048160" y="2858216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Автоматическое оповещение о проблемах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069;p66"/>
          <p:cNvSpPr/>
          <p:nvPr/>
        </p:nvSpPr>
        <p:spPr>
          <a:xfrm>
            <a:off x="3838239" y="3834221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070;p66"/>
          <p:cNvSpPr/>
          <p:nvPr/>
        </p:nvSpPr>
        <p:spPr>
          <a:xfrm>
            <a:off x="4048160" y="40441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71;p66"/>
          <p:cNvSpPr/>
          <p:nvPr/>
        </p:nvSpPr>
        <p:spPr>
          <a:xfrm>
            <a:off x="4048160" y="4044115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Play"/>
              </a:rPr>
              <a:t>Визуализация для быстрого анализа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072;p66"/>
          <p:cNvSpPr/>
          <p:nvPr/>
        </p:nvSpPr>
        <p:spPr>
          <a:xfrm>
            <a:off x="4048160" y="42986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Как работает платформа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Google Shape;980;p63"/>
          <p:cNvSpPr txBox="1"/>
          <p:nvPr>
            <p:ph type="title"/>
          </p:nvPr>
        </p:nvSpPr>
        <p:spPr>
          <a:xfrm>
            <a:off x="167921" y="208784"/>
            <a:ext cx="6792985" cy="4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Пилот показал сокращение времени обнаружения</a:t>
            </a:r>
            <a:endParaRPr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77362" y="811902"/>
          <a:ext cx="8688709" cy="373809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Google Shape;845;p5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Динамика улучшения показателей</a:t>
            </a:r>
            <a:endParaRPr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814;p5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15;p5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16;p59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17;p59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18;p59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19;p59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820;p59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21;p59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22;p59"/>
          <p:cNvSpPr/>
          <p:nvPr/>
        </p:nvSpPr>
        <p:spPr>
          <a:xfrm>
            <a:off x="3174990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23;p59"/>
          <p:cNvSpPr/>
          <p:nvPr/>
        </p:nvSpPr>
        <p:spPr>
          <a:xfrm>
            <a:off x="3327389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24;p59"/>
          <p:cNvSpPr/>
          <p:nvPr/>
        </p:nvSpPr>
        <p:spPr>
          <a:xfrm>
            <a:off x="3327389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5;p59"/>
          <p:cNvSpPr/>
          <p:nvPr/>
        </p:nvSpPr>
        <p:spPr>
          <a:xfrm>
            <a:off x="3327389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Методология внедрения стандартизирована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26;p59"/>
          <p:cNvSpPr/>
          <p:nvPr/>
        </p:nvSpPr>
        <p:spPr>
          <a:xfrm>
            <a:off x="3327389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27;p59"/>
          <p:cNvSpPr/>
          <p:nvPr/>
        </p:nvSpPr>
        <p:spPr>
          <a:xfrm>
            <a:off x="6064213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28;p59"/>
          <p:cNvSpPr/>
          <p:nvPr/>
        </p:nvSpPr>
        <p:spPr>
          <a:xfrm>
            <a:off x="6216612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9;p59"/>
          <p:cNvSpPr/>
          <p:nvPr/>
        </p:nvSpPr>
        <p:spPr>
          <a:xfrm>
            <a:off x="621661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830;p59"/>
          <p:cNvSpPr/>
          <p:nvPr/>
        </p:nvSpPr>
        <p:spPr>
          <a:xfrm>
            <a:off x="6216612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Готовность к расширению на другие департаменты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31;p59"/>
          <p:cNvSpPr/>
          <p:nvPr/>
        </p:nvSpPr>
        <p:spPr>
          <a:xfrm>
            <a:off x="6216612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32;p59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33;p59"/>
          <p:cNvSpPr/>
          <p:nvPr/>
        </p:nvSpPr>
        <p:spPr>
          <a:xfrm>
            <a:off x="285749" y="2883653"/>
            <a:ext cx="2794001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834;p59"/>
          <p:cNvSpPr/>
          <p:nvPr/>
        </p:nvSpPr>
        <p:spPr>
          <a:xfrm>
            <a:off x="438148" y="3036033"/>
            <a:ext cx="2489203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835;p59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836;p59"/>
          <p:cNvSpPr/>
          <p:nvPr/>
        </p:nvSpPr>
        <p:spPr>
          <a:xfrm>
            <a:off x="438148" y="3264604"/>
            <a:ext cx="2540003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Результаты подтверждены в двух пилотных командах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837;p59"/>
          <p:cNvSpPr/>
          <p:nvPr/>
        </p:nvSpPr>
        <p:spPr>
          <a:xfrm>
            <a:off x="438148" y="3493174"/>
            <a:ext cx="2527303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845;p5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Эффект масштабируется на все команды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24;p57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5;p57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26;p57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27;p57"/>
          <p:cNvSpPr/>
          <p:nvPr/>
        </p:nvSpPr>
        <p:spPr>
          <a:xfrm>
            <a:off x="285749" y="1209852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8;p57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9;p57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30;p57"/>
          <p:cNvSpPr/>
          <p:nvPr/>
        </p:nvSpPr>
        <p:spPr>
          <a:xfrm>
            <a:off x="438148" y="1590803"/>
            <a:ext cx="1817678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Выбор пилотной команды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731;p57"/>
          <p:cNvSpPr/>
          <p:nvPr/>
        </p:nvSpPr>
        <p:spPr>
          <a:xfrm>
            <a:off x="438148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732;p57"/>
          <p:cNvSpPr/>
          <p:nvPr/>
        </p:nvSpPr>
        <p:spPr>
          <a:xfrm>
            <a:off x="2452675" y="1209852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733;p57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34;p57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735;p57"/>
          <p:cNvSpPr/>
          <p:nvPr/>
        </p:nvSpPr>
        <p:spPr>
          <a:xfrm>
            <a:off x="2605074" y="1590803"/>
            <a:ext cx="1817678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Настройка интеграций за 1 неделю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736;p57"/>
          <p:cNvSpPr/>
          <p:nvPr/>
        </p:nvSpPr>
        <p:spPr>
          <a:xfrm>
            <a:off x="2605074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737;p57"/>
          <p:cNvSpPr/>
          <p:nvPr/>
        </p:nvSpPr>
        <p:spPr>
          <a:xfrm>
            <a:off x="4619601" y="1209852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738;p57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739;p57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740;p57"/>
          <p:cNvSpPr/>
          <p:nvPr/>
        </p:nvSpPr>
        <p:spPr>
          <a:xfrm>
            <a:off x="4772001" y="1590803"/>
            <a:ext cx="1817678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Запуск мониторинга и обучение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741;p57"/>
          <p:cNvSpPr/>
          <p:nvPr/>
        </p:nvSpPr>
        <p:spPr>
          <a:xfrm>
            <a:off x="4772001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742;p57"/>
          <p:cNvSpPr/>
          <p:nvPr/>
        </p:nvSpPr>
        <p:spPr>
          <a:xfrm>
            <a:off x="6786527" y="1209852"/>
            <a:ext cx="2071677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743;p57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744;p57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745;p57"/>
          <p:cNvSpPr/>
          <p:nvPr/>
        </p:nvSpPr>
        <p:spPr>
          <a:xfrm>
            <a:off x="6938927" y="1590803"/>
            <a:ext cx="1817678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Оценка результатов через 2 месяца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746;p57"/>
          <p:cNvSpPr/>
          <p:nvPr/>
        </p:nvSpPr>
        <p:spPr>
          <a:xfrm>
            <a:off x="6938927" y="1819373"/>
            <a:ext cx="1804978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747;p57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00" b="1" i="0">
                <a:solidFill>
                  <a:srgbClr val="000000"/>
                </a:solidFill>
                <a:latin typeface="Play"/>
              </a:rPr>
              <a:t>Запустите пилот для оценки эффекта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47;p4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sz="3200" b="1" i="0">
                <a:solidFill>
                  <a:srgbClr val="000000"/>
                </a:solidFill>
                <a:latin typeface="Play"/>
              </a:rPr>
              <a:t>Готовы начать пилот?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