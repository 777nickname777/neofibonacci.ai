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обнаружения инцидента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8193A7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До пилота</c:v>
                </c:pt>
                <c:pt idx="1">
                  <c:v>1-й месяц</c:v>
                </c:pt>
                <c:pt idx="2">
                  <c:v>2-й месяц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21.0</c:v>
                </c:pt>
                <c:pt idx="2">
                  <c:v>9.0</c:v>
                </c:pt>
              </c:numCache>
            </c:numRef>
          </c:val>
        </c:ser>
        <c:dLbls>
          <c:numFmt formatCode="[$-419]#,##0&quot; мин&quot;" sourceLinked="0"/>
          <c:txPr>
            <a:bodyPr wrap="none"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рассмотрим текущие боли команд, покажем результаты пилота и предложим план масштабирования.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Команды используют в среднем 4 разные системы. Это создает «острова» данных, где сложно увидеть полную картину.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42 минуты — это слишком долго для современных требований к доступности сервисов.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Наше решение объединяет разрозненные источники данных в единую платформу, устраняя необходимость переключения между инструментами.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Реальные данные пилота показывают драматическое улучшение показателей.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 показывает устойчивое снижение времени обнаружения: 42 минуты до пилота, 21 в первый месяц и 9 ко второму месяцу.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Платформа автоматически собирает данные, нормализует их и предоставляет инструменты для быстрого анализа.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Инженеры могут сосредоточиться на создании новых функций, а не на борьбе с инструментами мониторинга.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предлагаем запустить пилот в вашей команде, чтобы подтвердить эти результаты на ваших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1.png"/><Relationship Id="rId3" Type="http://schemas.openxmlformats.org/officeDocument/2006/relationships/image" Target="../media/image252.png"/><Relationship Id="rId4" Type="http://schemas.openxmlformats.org/officeDocument/2006/relationships/chart" Target="../charts/chart1.xml"/><Relationship Id="rId5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Google Shape;237;p33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4800" b="1" i="0">
                <a:solidFill>
                  <a:srgbClr val="FFFFFF"/>
                </a:solidFill>
                <a:latin typeface="Arial"/>
              </a:rPr>
              <a:t>Платформа наблюдаемости для инженерных команд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0077FF"/>
                </a:solidFill>
                <a:latin typeface="Arial"/>
              </a:rPr>
              <a:t>Структура презентации</a:t>
            </a:r>
            <a:endParaRPr/>
          </a:p>
        </p:txBody>
      </p:sp>
      <p:sp>
        <p:nvSpPr>
          <p:cNvPr id="3" name="Google Shape;284;p40"/>
          <p:cNvSpPr/>
          <p:nvPr/>
        </p:nvSpPr>
        <p:spPr>
          <a:xfrm>
            <a:off x="677332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Проблема фрагментации инструментов</a:t>
            </a:r>
            <a:endParaRPr/>
          </a:p>
        </p:txBody>
      </p:sp>
      <p:sp>
        <p:nvSpPr>
          <p:cNvPr id="4" name="Google Shape;285;p40"/>
          <p:cNvSpPr/>
          <p:nvPr/>
        </p:nvSpPr>
        <p:spPr>
          <a:xfrm>
            <a:off x="4334060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Решение: единая платформа</a:t>
            </a:r>
            <a:endParaRPr/>
          </a:p>
        </p:txBody>
      </p:sp>
      <p:sp>
        <p:nvSpPr>
          <p:cNvPr id="5" name="Google Shape;286;p40"/>
          <p:cNvSpPr/>
          <p:nvPr/>
        </p:nvSpPr>
        <p:spPr>
          <a:xfrm>
            <a:off x="7990788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Доказательства эффективности пилота</a:t>
            </a:r>
            <a:endParaRPr/>
          </a:p>
        </p:txBody>
      </p:sp>
      <p:sp>
        <p:nvSpPr>
          <p:cNvPr id="6" name="Google Shape;287;p40"/>
          <p:cNvSpPr/>
          <p:nvPr/>
        </p:nvSpPr>
        <p:spPr>
          <a:xfrm>
            <a:off x="677332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Архитектура и интеграция</a:t>
            </a:r>
            <a:endParaRPr/>
          </a:p>
        </p:txBody>
      </p:sp>
      <p:sp>
        <p:nvSpPr>
          <p:cNvPr id="7" name="Google Shape;288;p40"/>
          <p:cNvSpPr/>
          <p:nvPr/>
        </p:nvSpPr>
        <p:spPr>
          <a:xfrm>
            <a:off x="4334060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План внедрения и следующий шаг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490;p53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0077FF"/>
                </a:solidFill>
                <a:latin typeface="Arial"/>
              </a:rPr>
              <a:t>Фрагментация замедляет реакцию</a:t>
            </a:r>
            <a:endParaRPr/>
          </a:p>
        </p:txBody>
      </p:sp>
      <p:grpSp>
        <p:nvGrpSpPr>
          <p:cNvPr id="3" name="Google Shape;491;p53"/>
          <p:cNvGrpSpPr/>
          <p:nvPr/>
        </p:nvGrpSpPr>
        <p:grpSpPr>
          <a:xfrm>
            <a:off x="658812" y="2232530"/>
            <a:ext cx="10639191" cy="3299588"/>
            <a:chOff x="658812" y="2232530"/>
            <a:chExt cx="9830124" cy="3048668"/>
          </a:xfrm>
        </p:grpSpPr>
        <p:sp>
          <p:nvSpPr>
            <p:cNvPr id="4" name="Google Shape;492;p53"/>
            <p:cNvSpPr txBox="1"/>
            <p:nvPr/>
          </p:nvSpPr>
          <p:spPr>
            <a:xfrm>
              <a:off x="3165571" y="3260026"/>
              <a:ext cx="2311424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1400" b="0" i="0">
                  <a:solidFill>
                    <a:srgbClr val="000000"/>
                  </a:solidFill>
                  <a:latin typeface="Arial"/>
                </a:rPr>
                <a:t>Инженеры тратят время на переключение между четырьмя разными системами мониторинга. Это усложняет диагностику, увеличивает когнитивную нагрузку и задерживает принятие решений при инцидентах.</a:t>
              </a:r>
              <a:endParaRPr/>
            </a:p>
          </p:txBody>
        </p:sp>
        <p:sp>
          <p:nvSpPr>
            <p:cNvPr id="7" name="Google Shape;495;p53"/>
            <p:cNvSpPr txBox="1"/>
            <p:nvPr/>
          </p:nvSpPr>
          <p:spPr>
            <a:xfrm>
              <a:off x="658812" y="3260026"/>
              <a:ext cx="2312510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3200" b="0" i="0">
                  <a:solidFill>
                    <a:srgbClr val="000000"/>
                  </a:solidFill>
                  <a:latin typeface="Arial"/>
                </a:rPr>
                <a:t>4</a:t>
              </a:r>
              <a:endParaRPr/>
            </a:p>
            <a:p>
              <a:pPr algn="l">
                <a:lnSpc>
                  <a:spcPct val="100000"/>
                </a:lnSpc>
              </a:pPr>
              <a:r>
                <a:rPr sz="3200" b="0" i="0">
                  <a:solidFill>
                    <a:srgbClr val="000000"/>
                  </a:solidFill>
                  <a:latin typeface="Arial"/>
                </a:rPr>
                <a:t>Среднее кол-во систем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490;p53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0077FF"/>
                </a:solidFill>
                <a:latin typeface="Arial"/>
              </a:rPr>
              <a:t>Высокое время обнаружения инцидентов</a:t>
            </a:r>
            <a:endParaRPr/>
          </a:p>
        </p:txBody>
      </p:sp>
      <p:grpSp>
        <p:nvGrpSpPr>
          <p:cNvPr id="3" name="Google Shape;491;p53"/>
          <p:cNvGrpSpPr/>
          <p:nvPr/>
        </p:nvGrpSpPr>
        <p:grpSpPr>
          <a:xfrm>
            <a:off x="658812" y="2232530"/>
            <a:ext cx="10639191" cy="3299588"/>
            <a:chOff x="658812" y="2232530"/>
            <a:chExt cx="9830124" cy="3048668"/>
          </a:xfrm>
        </p:grpSpPr>
        <p:sp>
          <p:nvSpPr>
            <p:cNvPr id="4" name="Google Shape;492;p53"/>
            <p:cNvSpPr txBox="1"/>
            <p:nvPr/>
          </p:nvSpPr>
          <p:spPr>
            <a:xfrm>
              <a:off x="3165571" y="3260026"/>
              <a:ext cx="2311424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1400" b="0" i="0">
                  <a:solidFill>
                    <a:srgbClr val="000000"/>
                  </a:solidFill>
                  <a:latin typeface="Arial"/>
                </a:rPr>
                <a:t>Среднее время обнаружения инцидента составляет 42 минуты. За это время пользователи сталкиваются с проблемами, а бизнес несет убытки из-за простоя сервисов.</a:t>
              </a:r>
              <a:endParaRPr/>
            </a:p>
          </p:txBody>
        </p:sp>
        <p:sp>
          <p:nvSpPr>
            <p:cNvPr id="7" name="Google Shape;495;p53"/>
            <p:cNvSpPr txBox="1"/>
            <p:nvPr/>
          </p:nvSpPr>
          <p:spPr>
            <a:xfrm>
              <a:off x="658812" y="3260026"/>
              <a:ext cx="2312510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4000" b="0" i="0">
                  <a:solidFill>
                    <a:srgbClr val="000000"/>
                  </a:solidFill>
                  <a:latin typeface="Arial"/>
                </a:rPr>
                <a:t>42</a:t>
              </a:r>
              <a:endParaRPr/>
            </a:p>
            <a:p>
              <a:pPr algn="l">
                <a:lnSpc>
                  <a:spcPct val="100000"/>
                </a:lnSpc>
              </a:pPr>
              <a:r>
                <a:rPr sz="4000" b="0" i="0">
                  <a:solidFill>
                    <a:srgbClr val="000000"/>
                  </a:solidFill>
                  <a:latin typeface="Arial"/>
                </a:rPr>
                <a:t>MTTD (минуты)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" name="Google Shape;986;p76"/>
          <p:cNvCxnSpPr/>
          <p:nvPr/>
        </p:nvCxnSpPr>
        <p:spPr>
          <a:xfrm rot="10800000">
            <a:off x="-42658" y="3591512"/>
            <a:ext cx="12234658" cy="0"/>
          </a:xfrm>
          <a:prstGeom prst="straightConnector1">
            <a:avLst/>
          </a:prstGeom>
          <a:noFill/>
          <a:ln cap="flat" cmpd="sng" w="12700">
            <a:solidFill>
              <a:srgbClr val="E1E1E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" name="Google Shape;987;p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0077FF"/>
                </a:solidFill>
                <a:latin typeface="Arial"/>
              </a:rPr>
              <a:t>Единая платформа наблюдаемости</a:t>
            </a:r>
            <a:endParaRPr/>
          </a:p>
        </p:txBody>
      </p:sp>
      <p:sp>
        <p:nvSpPr>
          <p:cNvPr id="5" name="Google Shape;988;p76"/>
          <p:cNvSpPr/>
          <p:nvPr/>
        </p:nvSpPr>
        <p:spPr>
          <a:xfrm>
            <a:off x="6351822" y="3172750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989;p76"/>
          <p:cNvSpPr/>
          <p:nvPr/>
        </p:nvSpPr>
        <p:spPr>
          <a:xfrm>
            <a:off x="9194774" y="3156753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990;p76"/>
          <p:cNvSpPr/>
          <p:nvPr/>
        </p:nvSpPr>
        <p:spPr>
          <a:xfrm>
            <a:off x="3508870" y="3172750"/>
            <a:ext cx="869519" cy="8695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991;p76"/>
          <p:cNvSpPr/>
          <p:nvPr/>
        </p:nvSpPr>
        <p:spPr>
          <a:xfrm>
            <a:off x="665918" y="3157870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ru-RU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/>
          </a:p>
        </p:txBody>
      </p:sp>
      <p:sp>
        <p:nvSpPr>
          <p:cNvPr id="9" name="Google Shape;992;p76"/>
          <p:cNvSpPr txBox="1"/>
          <p:nvPr/>
        </p:nvSpPr>
        <p:spPr>
          <a:xfrm>
            <a:off x="627281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Arial"/>
              </a:rPr>
              <a:t>Агрегация метрик, логов и трейсов</a:t>
            </a:r>
            <a:endParaRPr/>
          </a:p>
        </p:txBody>
      </p:sp>
      <p:sp>
        <p:nvSpPr>
          <p:cNvPr id="10" name="Google Shape;993;p76"/>
          <p:cNvSpPr txBox="1"/>
          <p:nvPr/>
        </p:nvSpPr>
        <p:spPr>
          <a:xfrm>
            <a:off x="3508870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Arial"/>
              </a:rPr>
              <a:t>Единый интерфейс для всех команд</a:t>
            </a:r>
            <a:endParaRPr/>
          </a:p>
        </p:txBody>
      </p:sp>
      <p:sp>
        <p:nvSpPr>
          <p:cNvPr id="11" name="Google Shape;994;p76"/>
          <p:cNvSpPr txBox="1"/>
          <p:nvPr/>
        </p:nvSpPr>
        <p:spPr>
          <a:xfrm>
            <a:off x="6351822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Arial"/>
              </a:rPr>
              <a:t>Снижение контекстных переключений</a:t>
            </a:r>
            <a:endParaRPr/>
          </a:p>
        </p:txBody>
      </p:sp>
      <p:sp>
        <p:nvSpPr>
          <p:cNvPr id="12" name="Google Shape;995;p76"/>
          <p:cNvSpPr txBox="1"/>
          <p:nvPr/>
        </p:nvSpPr>
        <p:spPr>
          <a:xfrm>
            <a:off x="9156136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Arial"/>
              </a:rPr>
              <a:t>Ускорение поиска корневой причины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3" name="Google Shape;274;p39"/>
          <p:cNvSpPr/>
          <p:nvPr/>
        </p:nvSpPr>
        <p:spPr>
          <a:xfrm>
            <a:off x="671512" y="1773238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>
                <a:solidFill>
                  <a:srgbClr val="000000"/>
                </a:solidFill>
                <a:latin typeface="Arial"/>
              </a:rPr>
              <a:t>9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000000"/>
                </a:solidFill>
                <a:latin typeface="Arial"/>
              </a:rPr>
              <a:t>Новый MTTD (мин)</a:t>
            </a:r>
          </a:p>
        </p:txBody>
      </p:sp>
      <p:sp>
        <p:nvSpPr>
          <p:cNvPr id="4" name="Google Shape;275;p39"/>
          <p:cNvSpPr/>
          <p:nvPr/>
        </p:nvSpPr>
        <p:spPr>
          <a:xfrm>
            <a:off x="6154737" y="1775553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Arial"/>
              </a:rPr>
              <a:t>В ходе пилотного проекта в двух инженерных командах время обнаружения инцидентов снизилось с 42 до 9 минут. Это подтверждает эффективность единой платформы.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276;p3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0077FF"/>
                </a:solidFill>
                <a:latin typeface="Arial"/>
              </a:rPr>
              <a:t>Пилот сократил MTTD до 9 минут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029;p7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0077FF"/>
                </a:solidFill>
                <a:latin typeface="Arial"/>
              </a:rPr>
              <a:t>Динамика улучшения показателей</a:t>
            </a:r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22645" y="1564991"/>
          <a:ext cx="10914616" cy="476365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0077FF"/>
                </a:solidFill>
                <a:latin typeface="Arial"/>
              </a:rPr>
              <a:t>Как работает платформа</a:t>
            </a:r>
            <a:endParaRPr/>
          </a:p>
        </p:txBody>
      </p:sp>
      <p:sp>
        <p:nvSpPr>
          <p:cNvPr id="3" name="Google Shape;284;p40"/>
          <p:cNvSpPr/>
          <p:nvPr/>
        </p:nvSpPr>
        <p:spPr>
          <a:xfrm>
            <a:off x="677332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>
                <a:solidFill>
                  <a:srgbClr val="000000"/>
                </a:solidFill>
                <a:latin typeface="Arial"/>
              </a:rPr>
              <a:t>Сбор данных из всех источников</a:t>
            </a:r>
            <a:endParaRPr/>
          </a:p>
        </p:txBody>
      </p:sp>
      <p:sp>
        <p:nvSpPr>
          <p:cNvPr id="4" name="Google Shape;285;p40"/>
          <p:cNvSpPr/>
          <p:nvPr/>
        </p:nvSpPr>
        <p:spPr>
          <a:xfrm>
            <a:off x="4334060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>
                <a:solidFill>
                  <a:srgbClr val="000000"/>
                </a:solidFill>
                <a:latin typeface="Arial"/>
              </a:rPr>
              <a:t>Нормализация и индексация</a:t>
            </a:r>
            <a:endParaRPr/>
          </a:p>
        </p:txBody>
      </p:sp>
      <p:sp>
        <p:nvSpPr>
          <p:cNvPr id="5" name="Google Shape;286;p40"/>
          <p:cNvSpPr/>
          <p:nvPr/>
        </p:nvSpPr>
        <p:spPr>
          <a:xfrm>
            <a:off x="7990788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>
                <a:solidFill>
                  <a:srgbClr val="000000"/>
                </a:solidFill>
                <a:latin typeface="Arial"/>
              </a:rPr>
              <a:t>Визуализация и алертинг</a:t>
            </a:r>
            <a:endParaRPr/>
          </a:p>
        </p:txBody>
      </p:sp>
      <p:sp>
        <p:nvSpPr>
          <p:cNvPr id="6" name="Google Shape;287;p40"/>
          <p:cNvSpPr/>
          <p:nvPr/>
        </p:nvSpPr>
        <p:spPr>
          <a:xfrm>
            <a:off x="677332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>
                <a:solidFill>
                  <a:srgbClr val="000000"/>
                </a:solidFill>
                <a:latin typeface="Arial"/>
              </a:rPr>
              <a:t>Анализ корневых причин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404;p47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406;p47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Польза для технических команд</a:t>
            </a:r>
            <a:endParaRPr/>
          </a:p>
        </p:txBody>
      </p:sp>
      <p:sp>
        <p:nvSpPr>
          <p:cNvPr id="7" name="Google Shape;407;p47"/>
          <p:cNvSpPr txBox="1"/>
          <p:nvPr/>
        </p:nvSpPr>
        <p:spPr>
          <a:xfrm>
            <a:off x="6642100" y="692150"/>
            <a:ext cx="4738687" cy="5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Arial"/>
              </a:rPr>
              <a:t>Меньше времени на рутинный мониторинг</a:t>
            </a:r>
            <a:endParaRPr/>
          </a:p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Arial"/>
              </a:rPr>
              <a:t>Быстрая диагностика сложных проблем</a:t>
            </a:r>
          </a:p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Arial"/>
              </a:rPr>
              <a:t>Единый стандарт для всех команд</a:t>
            </a:r>
          </a:p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Arial"/>
              </a:rPr>
              <a:t>Снижение стресса при инцидентах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" name="Google Shape;986;p76"/>
          <p:cNvCxnSpPr/>
          <p:nvPr/>
        </p:nvCxnSpPr>
        <p:spPr>
          <a:xfrm rot="10800000">
            <a:off x="-42658" y="3591512"/>
            <a:ext cx="12234658" cy="0"/>
          </a:xfrm>
          <a:prstGeom prst="straightConnector1">
            <a:avLst/>
          </a:prstGeom>
          <a:noFill/>
          <a:ln cap="flat" cmpd="sng" w="12700">
            <a:solidFill>
              <a:srgbClr val="E1E1E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" name="Google Shape;987;p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4000" b="1" i="0">
                <a:solidFill>
                  <a:srgbClr val="0077FF"/>
                </a:solidFill>
                <a:latin typeface="Arial"/>
              </a:rPr>
              <a:t>Запуск пилота в вашей команде</a:t>
            </a:r>
            <a:endParaRPr/>
          </a:p>
        </p:txBody>
      </p:sp>
      <p:sp>
        <p:nvSpPr>
          <p:cNvPr id="5" name="Google Shape;988;p76"/>
          <p:cNvSpPr/>
          <p:nvPr/>
        </p:nvSpPr>
        <p:spPr>
          <a:xfrm>
            <a:off x="6351822" y="3172750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989;p76"/>
          <p:cNvSpPr/>
          <p:nvPr/>
        </p:nvSpPr>
        <p:spPr>
          <a:xfrm>
            <a:off x="9194774" y="3156753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990;p76"/>
          <p:cNvSpPr/>
          <p:nvPr/>
        </p:nvSpPr>
        <p:spPr>
          <a:xfrm>
            <a:off x="3508870" y="3172750"/>
            <a:ext cx="869519" cy="8695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991;p76"/>
          <p:cNvSpPr/>
          <p:nvPr/>
        </p:nvSpPr>
        <p:spPr>
          <a:xfrm>
            <a:off x="665918" y="3157870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ru-RU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/>
          </a:p>
        </p:txBody>
      </p:sp>
      <p:sp>
        <p:nvSpPr>
          <p:cNvPr id="9" name="Google Shape;992;p76"/>
          <p:cNvSpPr txBox="1"/>
          <p:nvPr/>
        </p:nvSpPr>
        <p:spPr>
          <a:xfrm>
            <a:off x="627281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Arial"/>
              </a:rPr>
              <a:t>Выбор пилотной команды</a:t>
            </a:r>
            <a:endParaRPr/>
          </a:p>
        </p:txBody>
      </p:sp>
      <p:sp>
        <p:nvSpPr>
          <p:cNvPr id="10" name="Google Shape;993;p76"/>
          <p:cNvSpPr txBox="1"/>
          <p:nvPr/>
        </p:nvSpPr>
        <p:spPr>
          <a:xfrm>
            <a:off x="3508870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Arial"/>
              </a:rPr>
              <a:t>Настройка интеграций за 1 неделю</a:t>
            </a:r>
            <a:endParaRPr/>
          </a:p>
        </p:txBody>
      </p:sp>
      <p:sp>
        <p:nvSpPr>
          <p:cNvPr id="11" name="Google Shape;994;p76"/>
          <p:cNvSpPr txBox="1"/>
          <p:nvPr/>
        </p:nvSpPr>
        <p:spPr>
          <a:xfrm>
            <a:off x="6351822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Arial"/>
              </a:rPr>
              <a:t>Обучение команды</a:t>
            </a:r>
            <a:endParaRPr/>
          </a:p>
        </p:txBody>
      </p:sp>
      <p:sp>
        <p:nvSpPr>
          <p:cNvPr id="12" name="Google Shape;995;p76"/>
          <p:cNvSpPr txBox="1"/>
          <p:nvPr/>
        </p:nvSpPr>
        <p:spPr>
          <a:xfrm>
            <a:off x="9156136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Arial"/>
              </a:rPr>
              <a:t>Оценка результатов через 2 месяца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Google Shape;1096;p87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sz="4400" b="1" i="0">
                <a:solidFill>
                  <a:srgbClr val="000000"/>
                </a:solidFill>
                <a:latin typeface="Arial"/>
              </a:rPr>
              <a:t>Готовы к запуску пилота?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