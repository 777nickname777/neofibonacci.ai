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2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4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Использование множества инструментов создает информационный шум и усложняет диагностику.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показатель значительно превышает оптимальные значения для высоконагруженных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показывает динамику улучшения показателей на протяжении пилотного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Результаты пилота демонстрируют высокую эффективность решения в реальных условиях.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показывает качественное изменение процессов работы инженерных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наблюдаемости для сокращения времени обнаружения инцидентов</a:t>
            </a:r>
            <a:endParaRPr sz="4800"/>
          </a:p>
        </p:txBody>
      </p:sp>
      <p:sp>
        <p:nvSpPr>
          <p:cNvPr id="3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Фрагментация инструментов замедляет реакцию команд</a:t>
            </a:r>
            <a:endParaRPr/>
          </a:p>
        </p:txBody>
      </p:sp>
      <p:sp>
        <p:nvSpPr>
          <p:cNvPr id="5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E4E7EA"/>
                </a:solidFill>
                <a:latin typeface="Play"/>
              </a:rPr>
              <a:t>Инженеры тратят время на переключение между системами, что увеличивает MTTR и снижает эффективность работы.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Команды используют в среднем 4 разные системы мониторинга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FFFFF"/>
                </a:solidFill>
                <a:latin typeface="Play"/>
              </a:rPr>
              <a:t>4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Play"/>
              </a:rPr>
              <a:t>Систем на команду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Среднее время обнаружения инцидента составляет 42 минуты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0" i="0">
                <a:solidFill>
                  <a:srgbClr val="FFFFFF"/>
                </a:solidFill>
                <a:latin typeface="Play"/>
              </a:rPr>
              <a:t>42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FFFFF"/>
                </a:solidFill>
                <a:latin typeface="Play"/>
              </a:rPr>
              <a:t>MTTD (мин)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консолидирует данные мониторинга</a:t>
            </a:r>
            <a:endParaRPr/>
          </a:p>
        </p:txBody>
      </p:sp>
      <p:sp>
        <p:nvSpPr>
          <p:cNvPr id="7" name="Google Shape;552;p2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9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TextBox 14"/>
          <p:cNvSpPr txBox="1"/>
          <p:nvPr/>
        </p:nvSpPr>
        <p:spPr>
          <a:xfrm>
            <a:off x="6222069" y="2710690"/>
            <a:ext cx="5079002" cy="17056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Play"/>
              </a:rPr>
              <a:t>Единый интерфейс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Play"/>
              </a:rPr>
              <a:t>Корреляция событий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Play"/>
              </a:rPr>
              <a:t>Автоматическое оповещение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Сбор метрик, логов и трейсов в одном потоке</a:t>
            </a:r>
            <a:endParaRPr/>
          </a:p>
        </p:txBody>
      </p:sp>
      <p:sp>
        <p:nvSpPr>
          <p:cNvPr id="3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Сбор данных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Обработка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Визуализация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9;p42"/>
          <p:cNvSpPr/>
          <p:nvPr/>
        </p:nvSpPr>
        <p:spPr>
          <a:xfrm>
            <a:off x="935850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850;p42"/>
          <p:cNvSpPr/>
          <p:nvPr/>
        </p:nvSpPr>
        <p:spPr>
          <a:xfrm>
            <a:off x="375094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" name="Google Shape;851;p42"/>
          <p:cNvSpPr/>
          <p:nvPr/>
        </p:nvSpPr>
        <p:spPr>
          <a:xfrm>
            <a:off x="664240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Время обнаружения сократилось с 42 до 9 минут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04;p19"/>
          <p:cNvSpPr txBox="1"/>
          <p:nvPr>
            <p:ph type="title"/>
          </p:nvPr>
        </p:nvSpPr>
        <p:spPr>
          <a:xfrm>
            <a:off x="429253" y="1460299"/>
            <a:ext cx="386516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Пилот в двух командах подтвердил снижение MTTR до 9 минут</a:t>
            </a:r>
            <a:endParaRPr/>
          </a:p>
        </p:txBody>
      </p:sp>
      <p:sp>
        <p:nvSpPr>
          <p:cNvPr id="3" name="Google Shape;405;p19"/>
          <p:cNvSpPr txBox="1"/>
          <p:nvPr/>
        </p:nvSpPr>
        <p:spPr>
          <a:xfrm>
            <a:off x="6490839" y="1657446"/>
            <a:ext cx="4743224" cy="638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Две команды</a:t>
            </a:r>
            <a:endParaRPr/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Play"/>
              </a:rPr>
              <a:t>Результат 9 мин</a:t>
            </a:r>
          </a:p>
        </p:txBody>
      </p:sp>
      <p:sp>
        <p:nvSpPr>
          <p:cNvPr id="4" name="Google Shape;406;p19"/>
          <p:cNvSpPr txBox="1"/>
          <p:nvPr/>
        </p:nvSpPr>
        <p:spPr>
          <a:xfrm>
            <a:off x="6490839" y="3204643"/>
            <a:ext cx="4743224" cy="638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Снижение в 4 раза</a:t>
            </a:r>
            <a:endParaRPr/>
          </a:p>
        </p:txBody>
      </p:sp>
      <p:grpSp>
        <p:nvGrpSpPr>
          <p:cNvPr id="5" name="Google Shape;407;p19"/>
          <p:cNvGrpSpPr/>
          <p:nvPr/>
        </p:nvGrpSpPr>
        <p:grpSpPr>
          <a:xfrm>
            <a:off x="5650979" y="1670239"/>
            <a:ext cx="638322" cy="638322"/>
            <a:chOff x="5879579" y="1547043"/>
            <a:chExt cx="638322" cy="638322"/>
          </a:xfrm>
        </p:grpSpPr>
        <p:sp>
          <p:nvSpPr>
            <p:cNvPr id="6" name="Google Shape;408;p19"/>
            <p:cNvSpPr/>
            <p:nvPr/>
          </p:nvSpPr>
          <p:spPr>
            <a:xfrm>
              <a:off x="5879579" y="1547043"/>
              <a:ext cx="638322" cy="638322"/>
            </a:xfrm>
            <a:prstGeom prst="roundRect">
              <a:avLst>
                <a:gd fmla="val 25847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 cap="flat" cmpd="sng" w="12700">
              <a:solidFill>
                <a:srgbClr val="0077FF">
                  <a:alpha val="400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" name="Google Shape;409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036740" y="1704204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oogle Shape;410;p19"/>
          <p:cNvGrpSpPr/>
          <p:nvPr/>
        </p:nvGrpSpPr>
        <p:grpSpPr>
          <a:xfrm>
            <a:off x="5650979" y="3217436"/>
            <a:ext cx="638322" cy="638322"/>
            <a:chOff x="5879579" y="3076390"/>
            <a:chExt cx="638322" cy="638322"/>
          </a:xfrm>
        </p:grpSpPr>
        <p:sp>
          <p:nvSpPr>
            <p:cNvPr id="9" name="Google Shape;411;p19"/>
            <p:cNvSpPr/>
            <p:nvPr/>
          </p:nvSpPr>
          <p:spPr>
            <a:xfrm>
              <a:off x="5879579" y="3076390"/>
              <a:ext cx="638322" cy="638322"/>
            </a:xfrm>
            <a:prstGeom prst="roundRect">
              <a:avLst>
                <a:gd fmla="val 25847" name="adj"/>
              </a:avLst>
            </a:prstGeom>
            <a:gradFill>
              <a:gsLst>
                <a:gs pos="0">
                  <a:srgbClr val="00AEE8"/>
                </a:gs>
                <a:gs pos="100000">
                  <a:srgbClr val="0077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" name="Google Shape;41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036740" y="3238356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Единая платформа эффективнее разрозненных инструментов</a:t>
            </a: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484" y="1820863"/>
          <a:ext cx="11330286" cy="2377440"/>
        </p:xfrm>
        <a:graphic>
          <a:graphicData uri="http://schemas.openxmlformats.org/drawingml/2006/table">
            <a:tbl>
              <a:tblPr firstRow="1"/>
              <a:tblGrid>
                <a:gridCol w="3776762"/>
                <a:gridCol w="3776762"/>
                <a:gridCol w="3776762"/>
              </a:tblGrid>
              <a:tr h="7924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До внедрения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Play"/>
                        </a:rPr>
                        <a:t>После внедрения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MTTD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42 мин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9 мин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Инструменты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4 системы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E4E7EA"/>
                          </a:solidFill>
                          <a:latin typeface="Play"/>
                        </a:rPr>
                        <a:t>1 платформа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План пилотного проекта: 3 месяца внедрения</a:t>
            </a:r>
            <a:endParaRPr/>
          </a:p>
        </p:txBody>
      </p:sp>
      <p:sp>
        <p:nvSpPr>
          <p:cNvPr id="3" name="Google Shape;859;p43"/>
          <p:cNvSpPr txBox="1"/>
          <p:nvPr/>
        </p:nvSpPr>
        <p:spPr>
          <a:xfrm>
            <a:off x="429253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Подготовка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60;p43"/>
          <p:cNvSpPr txBox="1"/>
          <p:nvPr/>
        </p:nvSpPr>
        <p:spPr>
          <a:xfrm>
            <a:off x="3319410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Запуск пилота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61;p43"/>
          <p:cNvSpPr txBox="1"/>
          <p:nvPr/>
        </p:nvSpPr>
        <p:spPr>
          <a:xfrm>
            <a:off x="6209568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Анализ результатов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63;p43"/>
          <p:cNvSpPr txBox="1"/>
          <p:nvPr/>
        </p:nvSpPr>
        <p:spPr>
          <a:xfrm>
            <a:off x="429254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864;p43"/>
          <p:cNvSpPr txBox="1"/>
          <p:nvPr/>
        </p:nvSpPr>
        <p:spPr>
          <a:xfrm>
            <a:off x="3314958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865;p43"/>
          <p:cNvSpPr txBox="1"/>
          <p:nvPr/>
        </p:nvSpPr>
        <p:spPr>
          <a:xfrm>
            <a:off x="6200662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2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3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Запуск пилота в двух командах для проверки гипотезы</a:t>
            </a:r>
            <a:endParaRPr/>
          </a:p>
        </p:txBody>
      </p:sp>
      <p:sp>
        <p:nvSpPr>
          <p:cNvPr id="5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63;p22"/>
          <p:cNvSpPr txBox="1"/>
          <p:nvPr/>
        </p:nvSpPr>
        <p:spPr>
          <a:xfrm>
            <a:off x="5966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Предлагаем начать пилотный проект для оценки эффективности платформы.</a:t>
            </a:r>
            <a:endParaRPr/>
          </a:p>
        </p:txBody>
      </p:sp>
      <p:pic>
        <p:nvPicPr>
          <p:cNvPr id="7" name="Google Shape;46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Play"/>
              </a:rPr>
              <a:t>Готовы обсудить детали пилотного проекта</a:t>
            </a:r>
            <a:endParaRPr/>
          </a:p>
        </p:txBody>
      </p:sp>
      <p:sp>
        <p:nvSpPr>
          <p:cNvPr id="3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