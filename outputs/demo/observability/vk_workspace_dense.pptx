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0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Использование множества инструментов создает информационный шум и усложняет диагностику.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показатель значительно превышает оптимальные значения для высоконагруженных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динамику улучшения показателей на протяжении пилотного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Результаты пилота демонстрируют высокую эффективность решения в реальных условиях.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качественное изменение процессов работы инженерных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наблюдаемости для сокращения времени обнаружения инцидентов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marL="13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sz="1200" b="0" i="0">
                <a:solidFill>
                  <a:srgbClr val="70C3FF"/>
                </a:solidFill>
                <a:latin typeface="Play"/>
              </a:rPr>
              <a:t>Инженеры тратят время на переключение между системами, что увеличивает MTTR и снижает эффективность работы.</a:t>
            </a:r>
            <a:endParaRPr/>
          </a:p>
        </p:txBody>
      </p:sp>
      <p:sp>
        <p:nvSpPr>
          <p:cNvPr id="15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Фрагментация инструментов замедляет реакцию команд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Команды используют в среднем 4 разные системы мониторинга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>
                <a:solidFill>
                  <a:srgbClr val="FFFFFF"/>
                </a:solidFill>
                <a:latin typeface="Play"/>
              </a:rPr>
              <a:t>4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FFFFFF"/>
                </a:solidFill>
                <a:latin typeface="Play"/>
              </a:rPr>
              <a:t>Систем на команду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Среднее время обнаружения инцидента составляет 42 минуты</a:t>
            </a:r>
            <a:endParaRPr/>
          </a:p>
        </p:txBody>
      </p:sp>
      <p:sp>
        <p:nvSpPr>
          <p:cNvPr id="3" name="Google Shape;710;p33"/>
          <p:cNvSpPr txBox="1"/>
          <p:nvPr/>
        </p:nvSpPr>
        <p:spPr>
          <a:xfrm>
            <a:off x="6316808" y="1243208"/>
            <a:ext cx="4739119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6000" b="0" i="0">
                <a:solidFill>
                  <a:srgbClr val="FFFFFF"/>
                </a:solidFill>
                <a:latin typeface="Play"/>
              </a:rPr>
              <a:t>42</a:t>
            </a:r>
            <a:endParaRPr sz="16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FFFFF"/>
                </a:solidFill>
                <a:latin typeface="Play"/>
              </a:rPr>
              <a:t>MTTD (мин)</a:t>
            </a:r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консолидирует данные мониторинга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Единый интерфейс</a:t>
            </a:r>
            <a:endParaRPr/>
          </a:p>
        </p:txBody>
      </p:sp>
      <p:sp>
        <p:nvSpPr>
          <p:cNvPr id="6" name="Google Shape;682;p31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Корреляция событий</a:t>
            </a:r>
            <a:endParaRPr/>
          </a:p>
        </p:txBody>
      </p:sp>
      <p:sp>
        <p:nvSpPr>
          <p:cNvPr id="7" name="Google Shape;683;p31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Автоматическое оповещение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Сбор метрик, логов и трейсов в одном потоке</a:t>
            </a:r>
            <a:endParaRPr/>
          </a:p>
        </p:txBody>
      </p:sp>
      <p:sp>
        <p:nvSpPr>
          <p:cNvPr id="3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61;p22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3;p22"/>
          <p:cNvSpPr txBox="1"/>
          <p:nvPr/>
        </p:nvSpPr>
        <p:spPr>
          <a:xfrm>
            <a:off x="5966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Сбор данных</a:t>
            </a:r>
            <a:endParaRPr/>
          </a:p>
        </p:txBody>
      </p:sp>
      <p:pic>
        <p:nvPicPr>
          <p:cNvPr id="7" name="Google Shape;4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65;p22"/>
          <p:cNvSpPr txBox="1"/>
          <p:nvPr/>
        </p:nvSpPr>
        <p:spPr>
          <a:xfrm>
            <a:off x="4240405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Обработка</a:t>
            </a:r>
            <a:endParaRPr/>
          </a:p>
        </p:txBody>
      </p:sp>
      <p:pic>
        <p:nvPicPr>
          <p:cNvPr id="9" name="Google Shape;46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0404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67;p22"/>
          <p:cNvSpPr txBox="1"/>
          <p:nvPr/>
        </p:nvSpPr>
        <p:spPr>
          <a:xfrm>
            <a:off x="79118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Визуализация</a:t>
            </a:r>
            <a:endParaRPr/>
          </a:p>
        </p:txBody>
      </p:sp>
      <p:pic>
        <p:nvPicPr>
          <p:cNvPr id="11" name="Google Shape;46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Время обнаружения сократилось с 42 до 9 минут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Пилот в двух командах подтвердил снижение MTTR до 9 минут</a:t>
            </a:r>
            <a:endParaRPr/>
          </a:p>
        </p:txBody>
      </p:sp>
      <p:sp>
        <p:nvSpPr>
          <p:cNvPr id="7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9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6222069" y="2710690"/>
            <a:ext cx="5079002" cy="1705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4E7EA"/>
                </a:solidFill>
                <a:latin typeface="Play"/>
              </a:rPr>
              <a:t>Две команды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4E7EA"/>
                </a:solidFill>
                <a:latin typeface="Play"/>
              </a:rPr>
              <a:t>Результат 9 мин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4E7EA"/>
                </a:solidFill>
                <a:latin typeface="Play"/>
              </a:rPr>
              <a:t>Снижение в 4 раза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эффективнее разрозненных инструментов</a:t>
            </a:r>
            <a:endParaRPr/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7924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До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После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MTTD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42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9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Инструменты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 системы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1 платформа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План пилотного проекта: 3 месяца внедрения</a:t>
            </a:r>
            <a:endParaRPr/>
          </a:p>
        </p:txBody>
      </p:sp>
      <p:sp>
        <p:nvSpPr>
          <p:cNvPr id="3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Подготовка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Запуск пилота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Анализ результатов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9;p42"/>
          <p:cNvSpPr/>
          <p:nvPr/>
        </p:nvSpPr>
        <p:spPr>
          <a:xfrm>
            <a:off x="935850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850;p42"/>
          <p:cNvSpPr/>
          <p:nvPr/>
        </p:nvSpPr>
        <p:spPr>
          <a:xfrm>
            <a:off x="375094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851;p42"/>
          <p:cNvSpPr/>
          <p:nvPr/>
        </p:nvSpPr>
        <p:spPr>
          <a:xfrm>
            <a:off x="664240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пилота в двух командах для проверки гипотезы</a:t>
            </a:r>
            <a:endParaRPr/>
          </a:p>
        </p:txBody>
      </p:sp>
      <p:sp>
        <p:nvSpPr>
          <p:cNvPr id="5" name="Google Shape;568;p27"/>
          <p:cNvSpPr txBox="1"/>
          <p:nvPr/>
        </p:nvSpPr>
        <p:spPr>
          <a:xfrm>
            <a:off x="427865" y="1592263"/>
            <a:ext cx="3072079" cy="398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CFF"/>
              </a:buClr>
              <a:buSzPts val="2000"/>
              <a:buFont typeface="Play"/>
              <a:buNone/>
            </a:pPr>
            <a:r>
              <a:rPr sz="1100" b="0" i="0">
                <a:solidFill>
                  <a:srgbClr val="70C3FF"/>
                </a:solidFill>
                <a:latin typeface="Play"/>
              </a:rPr>
              <a:t>Предлагаем начать пилотный проект для оценки эффективности платформы.</a:t>
            </a:r>
            <a:endParaRPr sz="2000">
              <a:solidFill>
                <a:srgbClr val="6DBC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Google Shape;579;p27"/>
          <p:cNvSpPr/>
          <p:nvPr/>
        </p:nvSpPr>
        <p:spPr>
          <a:xfrm>
            <a:off x="2840761" y="1650577"/>
            <a:ext cx="962809" cy="388186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Play"/>
              </a:rPr>
              <a:t>Готовы обсудить детали пилотного проекта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