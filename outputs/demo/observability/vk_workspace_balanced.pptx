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547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C9AF0A-6FEA-4B71-B213-FBF42B605303}">
  <a:tblStyle styleId="{5AC9AF0A-6FEA-4B71-B213-FBF42B605303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47"/>
        <p:guide pos="777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36" Type="http://schemas.openxmlformats.org/officeDocument/2006/relationships/font" Target="fonts/Play-regular.fntdata"/><Relationship Id="rId37" Type="http://schemas.openxmlformats.org/officeDocument/2006/relationships/font" Target="fonts/Play-bold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Время обнаружения инцидента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697E96"/>
              </a:solidFill>
            </c:spPr>
          </c:dPt>
          <c:dPt>
            <c:idx val="2"/>
            <c:spPr>
              <a:solidFill>
                <a:srgbClr val="0077FF"/>
              </a:solidFill>
            </c:spPr>
          </c:dPt>
          <c:cat>
            <c:strRef>
              <c:f>Sheet1!$A$2:$A$4</c:f>
              <c:strCache>
                <c:ptCount val="3"/>
                <c:pt idx="0">
                  <c:v>До пилота</c:v>
                </c:pt>
                <c:pt idx="1">
                  <c:v>1-й месяц</c:v>
                </c:pt>
                <c:pt idx="2">
                  <c:v>2-й месяц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42.0</c:v>
                </c:pt>
                <c:pt idx="1">
                  <c:v>21.0</c:v>
                </c:pt>
                <c:pt idx="2">
                  <c:v>9.0</c:v>
                </c:pt>
              </c:numCache>
            </c:numRef>
          </c:val>
        </c:ser>
        <c:dLbls>
          <c:numFmt formatCode="[$-419]#,##0&quot; мин&quot;" sourceLinked="0"/>
          <c:txPr>
            <a:bodyPr wrap="none"/>
            <a:lstStyle/>
            <a:p>
              <a:pPr>
                <a:defRPr sz="4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[$-419]#,##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4000">
          <a:solidFill>
            <a:srgbClr val="70C3FF"/>
          </a:solidFill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Использование множества инструментов создает информационный шум и усложняет диагностику.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Текущий показатель значительно превышает оптимальные значения для высоконагруженных систем.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График показывает динамику улучшения показателей на протяжении пилотного проекта.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Результаты пилота демонстрируют высокую эффективность решения в реальных условиях.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Сравнение показывает качественное изменение процессов работы инженерных команд.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56" name="Google Shape;56;p2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75" name="Google Shape;75;p2"/>
          <p:cNvSpPr txBox="1"/>
          <p:nvPr>
            <p:ph type="title"/>
          </p:nvPr>
        </p:nvSpPr>
        <p:spPr>
          <a:xfrm>
            <a:off x="429253" y="25462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2"/>
          <p:cNvGrpSpPr/>
          <p:nvPr/>
        </p:nvGrpSpPr>
        <p:grpSpPr>
          <a:xfrm>
            <a:off x="1" y="6350"/>
            <a:ext cx="12192792" cy="6851649"/>
            <a:chOff x="0" y="6350"/>
            <a:chExt cx="24396891" cy="13709651"/>
          </a:xfrm>
        </p:grpSpPr>
        <p:pic>
          <p:nvPicPr>
            <p:cNvPr id="77" name="Google Shape;77;p2"/>
            <p:cNvPicPr preferRelativeResize="0"/>
            <p:nvPr/>
          </p:nvPicPr>
          <p:blipFill rotWithShape="1">
            <a:blip r:embed="rId2">
              <a:alphaModFix/>
            </a:blip>
            <a:srcRect b="0" l="0" r="50023" t="80662"/>
            <a:stretch/>
          </p:blipFill>
          <p:spPr>
            <a:xfrm>
              <a:off x="1587" y="11064874"/>
              <a:ext cx="12192000" cy="265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/>
            <p:nvPr/>
          </p:nvSpPr>
          <p:spPr>
            <a:xfrm>
              <a:off x="0" y="10657492"/>
              <a:ext cx="8335061" cy="30585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" name="Google Shape;79;p2"/>
            <p:cNvPicPr preferRelativeResize="0"/>
            <p:nvPr/>
          </p:nvPicPr>
          <p:blipFill rotWithShape="1">
            <a:blip r:embed="rId2">
              <a:alphaModFix/>
            </a:blip>
            <a:srcRect b="0" l="52729" r="0" t="82751"/>
            <a:stretch/>
          </p:blipFill>
          <p:spPr>
            <a:xfrm>
              <a:off x="12853797" y="11351172"/>
              <a:ext cx="11531791" cy="2364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2">
              <a:alphaModFix/>
            </a:blip>
            <a:srcRect b="76357" l="52729" r="0" t="0"/>
            <a:stretch/>
          </p:blipFill>
          <p:spPr>
            <a:xfrm>
              <a:off x="12865099" y="6350"/>
              <a:ext cx="11531792" cy="32413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2">
              <a:alphaModFix/>
            </a:blip>
            <a:srcRect b="69917" l="0" r="47271" t="0"/>
            <a:stretch/>
          </p:blipFill>
          <p:spPr>
            <a:xfrm>
              <a:off x="1587" y="6350"/>
              <a:ext cx="12863512" cy="4124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Титульный слайд">
  <p:cSld name="9_Титульный слайд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3"/>
          <p:cNvPicPr preferRelativeResize="0"/>
          <p:nvPr/>
        </p:nvPicPr>
        <p:blipFill rotWithShape="1">
          <a:blip r:embed="rId2">
            <a:alphaModFix/>
          </a:blip>
          <a:srcRect b="-1" l="0" r="50023" t="66636"/>
          <a:stretch/>
        </p:blipFill>
        <p:spPr>
          <a:xfrm>
            <a:off x="794" y="4572000"/>
            <a:ext cx="6093175" cy="228599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1" y="5747081"/>
            <a:ext cx="4487332" cy="11109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45067" y="6160788"/>
            <a:ext cx="4487332" cy="69721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89" name="Google Shape;89;p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0" name="Google Shape;90;p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1" name="Google Shape;91;p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2" name="Google Shape;92;p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3" name="Google Shape;93;p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4" name="Google Shape;94;p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5" name="Google Shape;95;p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6" name="Google Shape;96;p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7" name="Google Shape;97;p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8" name="Google Shape;98;p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9" name="Google Shape;99;p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0" name="Google Shape;100;p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1" name="Google Shape;101;p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2" name="Google Shape;102;p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3" name="Google Shape;103;p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5" name="Google Shape;105;p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6" name="Google Shape;106;p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7" name="Google Shape;107;p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08" name="Google Shape;108;p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4487333" y="4377664"/>
            <a:ext cx="1608667" cy="2480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Заголовок">
  <p:cSld name="19_Заголовок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4" name="Google Shape;114;p4"/>
          <p:cNvPicPr preferRelativeResize="0"/>
          <p:nvPr/>
        </p:nvPicPr>
        <p:blipFill rotWithShape="1">
          <a:blip r:embed="rId2">
            <a:alphaModFix/>
          </a:blip>
          <a:srcRect b="0" l="0" r="61122" t="0"/>
          <a:stretch/>
        </p:blipFill>
        <p:spPr>
          <a:xfrm>
            <a:off x="0" y="0"/>
            <a:ext cx="4739951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Титульный слайд">
  <p:cSld name="18_Титульный слайд"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5"/>
          <p:cNvPicPr preferRelativeResize="0"/>
          <p:nvPr/>
        </p:nvPicPr>
        <p:blipFill rotWithShape="1">
          <a:blip r:embed="rId2">
            <a:alphaModFix/>
          </a:blip>
          <a:srcRect b="2847" l="52053" r="0" t="90954"/>
          <a:stretch/>
        </p:blipFill>
        <p:spPr>
          <a:xfrm flipH="1">
            <a:off x="-2" y="6433309"/>
            <a:ext cx="5845629" cy="424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26515" t="13089"/>
          <a:stretch/>
        </p:blipFill>
        <p:spPr>
          <a:xfrm rot="10800000">
            <a:off x="-1" y="1831974"/>
            <a:ext cx="4249647" cy="5026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21" name="Google Shape;121;p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2" name="Google Shape;122;p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3" name="Google Shape;123;p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4" name="Google Shape;124;p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5" name="Google Shape;125;p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6" name="Google Shape;126;p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7" name="Google Shape;127;p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8" name="Google Shape;128;p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9" name="Google Shape;129;p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0" name="Google Shape;130;p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1" name="Google Shape;131;p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2" name="Google Shape;132;p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3" name="Google Shape;133;p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4" name="Google Shape;134;p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5" name="Google Shape;135;p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6" name="Google Shape;136;p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7" name="Google Shape;137;p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8" name="Google Shape;138;p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9" name="Google Shape;139;p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40" name="Google Shape;140;p5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2" name="Google Shape;142;p5"/>
          <p:cNvPicPr preferRelativeResize="0"/>
          <p:nvPr/>
        </p:nvPicPr>
        <p:blipFill rotWithShape="1">
          <a:blip r:embed="rId5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46" name="Google Shape;14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Титульный слайд">
  <p:cSld name="15_Титульный слайд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8" name="Google Shape;1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93786"/>
            <a:ext cx="4655279" cy="46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600" y="0"/>
            <a:ext cx="1760400" cy="2431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498" y="6290333"/>
            <a:ext cx="2860502" cy="567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52" name="Google Shape;152;p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3" name="Google Shape;153;p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4" name="Google Shape;154;p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5" name="Google Shape;155;p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8" name="Google Shape;158;p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9" name="Google Shape;159;p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0" name="Google Shape;160;p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1" name="Google Shape;161;p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5" name="Google Shape;165;p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0" name="Google Shape;170;p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71" name="Google Shape;171;p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Титульный слайд">
  <p:cSld name="13_Титульный слайд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76" name="Google Shape;176;p7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7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7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7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7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4" name="Google Shape;184;p7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5" name="Google Shape;185;p7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95" name="Google Shape;195;p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7" name="Google Shape;197;p7"/>
          <p:cNvPicPr preferRelativeResize="0"/>
          <p:nvPr/>
        </p:nvPicPr>
        <p:blipFill rotWithShape="1">
          <a:blip r:embed="rId3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Заголовок">
  <p:cSld name="8_Заголовок"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8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 flipH="1">
            <a:off x="2907772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 flipH="1">
            <a:off x="5862319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7" name="Google Shape;2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Титульный слайд">
  <p:cSld name="17_Титульный слайд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9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9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9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9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9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9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9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6" name="Google Shape;226;p9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30" name="Google Shape;230;p9"/>
          <p:cNvPicPr preferRelativeResize="0"/>
          <p:nvPr/>
        </p:nvPicPr>
        <p:blipFill rotWithShape="1">
          <a:blip r:embed="rId2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Титульный слайд">
  <p:cSld name="14_Титульный слайд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35" name="Google Shape;23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5844358"/>
            <a:ext cx="6096000" cy="1013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0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37" name="Google Shape;237;p10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8" name="Google Shape;238;p10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9" name="Google Shape;239;p10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0" name="Google Shape;240;p10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1" name="Google Shape;241;p10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2" name="Google Shape;242;p10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3" name="Google Shape;243;p10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4" name="Google Shape;244;p10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5" name="Google Shape;245;p10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6" name="Google Shape;246;p10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7" name="Google Shape;247;p10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8" name="Google Shape;248;p10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9" name="Google Shape;249;p10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0" name="Google Shape;250;p10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1" name="Google Shape;251;p10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2" name="Google Shape;252;p10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3" name="Google Shape;253;p10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4" name="Google Shape;254;p10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5" name="Google Shape;255;p10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56" name="Google Shape;256;p1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7" name="Google Shape;2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6292" y="0"/>
            <a:ext cx="1325708" cy="3723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Заголовок">
  <p:cSld name="11_Заголовок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1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3" name="Google Shape;2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4" name="Google Shape;26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Заголовок">
  <p:cSld name="17_Заголовок">
    <p:bg>
      <p:bgPr>
        <a:solidFill>
          <a:schemeClr val="dk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2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>
            <a:off x="-1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2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>
            <a:off x="-1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69" name="Google Shape;26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Титульный слайд">
  <p:cSld name="11_Титульный слайд">
    <p:bg>
      <p:bgPr>
        <a:solidFill>
          <a:schemeClr val="dk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73" name="Google Shape;273;p1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2" name="Google Shape;282;p1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3" name="Google Shape;283;p1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4" name="Google Shape;284;p1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5" name="Google Shape;285;p1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6" name="Google Shape;286;p1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7" name="Google Shape;287;p1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8" name="Google Shape;288;p1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9" name="Google Shape;289;p1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0" name="Google Shape;290;p1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1" name="Google Shape;291;p1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92" name="Google Shape;292;p1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93" name="Google Shape;293;p1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5" name="Google Shape;2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Титульный слайд">
  <p:cSld name="16_Титульный слайд">
    <p:bg>
      <p:bgPr>
        <a:solidFill>
          <a:schemeClr val="dk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97" name="Google Shape;297;p14"/>
          <p:cNvPicPr preferRelativeResize="0"/>
          <p:nvPr/>
        </p:nvPicPr>
        <p:blipFill rotWithShape="1">
          <a:blip r:embed="rId2">
            <a:alphaModFix/>
          </a:blip>
          <a:srcRect b="0" l="20444" r="24824" t="0"/>
          <a:stretch/>
        </p:blipFill>
        <p:spPr>
          <a:xfrm>
            <a:off x="5519099" y="0"/>
            <a:ext cx="6672901" cy="68571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14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99" name="Google Shape;299;p14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7" name="Google Shape;307;p14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8" name="Google Shape;308;p14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9" name="Google Shape;309;p14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0" name="Google Shape;310;p14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1" name="Google Shape;311;p14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2" name="Google Shape;312;p14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3" name="Google Shape;313;p14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4" name="Google Shape;314;p14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5" name="Google Shape;315;p14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6" name="Google Shape;316;p14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7" name="Google Shape;317;p14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18" name="Google Shape;318;p14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319" name="Google Shape;3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4"/>
          <p:cNvSpPr/>
          <p:nvPr/>
        </p:nvSpPr>
        <p:spPr>
          <a:xfrm>
            <a:off x="5404757" y="4555671"/>
            <a:ext cx="1926772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8490856" y="53721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6498771" y="3429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7903028" y="32658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5323114" y="930729"/>
            <a:ext cx="1175657" cy="973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Титульный слайд">
  <p:cSld name="12_Титульный слайд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27" name="Google Shape;3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79" cy="685713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/>
          <p:nvPr/>
        </p:nvSpPr>
        <p:spPr>
          <a:xfrm>
            <a:off x="0" y="4499104"/>
            <a:ext cx="6792686" cy="16616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" y="5501389"/>
            <a:ext cx="4811842" cy="135660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1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31" name="Google Shape;331;p1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2" name="Google Shape;332;p1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3" name="Google Shape;333;p1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4" name="Google Shape;334;p1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5" name="Google Shape;335;p1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6" name="Google Shape;336;p1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7" name="Google Shape;337;p1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8" name="Google Shape;338;p1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9" name="Google Shape;339;p1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0" name="Google Shape;340;p1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1" name="Google Shape;341;p1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2" name="Google Shape;342;p1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3" name="Google Shape;343;p1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4" name="Google Shape;344;p1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5" name="Google Shape;345;p1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6" name="Google Shape;346;p1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7" name="Google Shape;347;p1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8" name="Google Shape;348;p1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9" name="Google Shape;349;p1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50" name="Google Shape;350;p1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1" name="Google Shape;3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5895936"/>
            <a:ext cx="3536690" cy="557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Титульный слайд">
  <p:cSld name="10_Титульный слайд">
    <p:bg>
      <p:bgPr>
        <a:solidFill>
          <a:schemeClr val="dk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1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55" name="Google Shape;355;p1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7" name="Google Shape;357;p1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8" name="Google Shape;358;p1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9" name="Google Shape;359;p1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0" name="Google Shape;360;p1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1" name="Google Shape;361;p1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2" name="Google Shape;362;p1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3" name="Google Shape;363;p1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4" name="Google Shape;364;p1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5" name="Google Shape;365;p1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6" name="Google Shape;366;p1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7" name="Google Shape;367;p1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8" name="Google Shape;368;p1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9" name="Google Shape;369;p1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0" name="Google Shape;370;p1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1" name="Google Shape;371;p1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2" name="Google Shape;372;p1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3" name="Google Shape;373;p1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74" name="Google Shape;374;p1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5" name="Google Shape;37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6" name="Google Shape;3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7866" y="662333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A6A6A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53" name="Google Shape;5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DE53C"/>
          </p15:clr>
        </p15:guide>
        <p15:guide id="2" pos="7423">
          <p15:clr>
            <a:srgbClr val="FDE53C"/>
          </p15:clr>
        </p15:guide>
        <p15:guide id="3" orient="horz" pos="4065">
          <p15:clr>
            <a:srgbClr val="FDE53C"/>
          </p15:clr>
        </p15:guide>
        <p15:guide id="4" pos="5201">
          <p15:clr>
            <a:srgbClr val="FDE53C"/>
          </p15:clr>
        </p15:guide>
        <p15:guide id="5" pos="2479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640">
          <p15:clr>
            <a:srgbClr val="FDE53C"/>
          </p15:clr>
        </p15:guide>
        <p15:guide id="8" orient="horz" pos="1003">
          <p15:clr>
            <a:srgbClr val="FDE53C"/>
          </p15:clr>
        </p15:guide>
        <p15:guide id="9" pos="1073">
          <p15:clr>
            <a:srgbClr val="FDE53C"/>
          </p15:clr>
        </p15:guide>
        <p15:guide id="10" pos="6584">
          <p15:clr>
            <a:srgbClr val="FDE53C"/>
          </p15:clr>
        </p15:guide>
        <p15:guide id="11" orient="horz" pos="255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381;p17"/>
          <p:cNvSpPr txBox="1"/>
          <p:nvPr>
            <p:ph type="title"/>
          </p:nvPr>
        </p:nvSpPr>
        <p:spPr>
          <a:xfrm>
            <a:off x="429253" y="24905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Единая платформа наблюдаемости для сокращения времени обнаружения инцидентов</a:t>
            </a:r>
            <a:endParaRPr sz="4800"/>
          </a:p>
        </p:txBody>
      </p:sp>
      <p:sp>
        <p:nvSpPr>
          <p:cNvPr id="3" name="Google Shape;382;p17"/>
          <p:cNvSpPr/>
          <p:nvPr/>
        </p:nvSpPr>
        <p:spPr>
          <a:xfrm>
            <a:off x="429254" y="4682210"/>
            <a:ext cx="834282" cy="834282"/>
          </a:xfrm>
          <a:prstGeom prst="ellipse">
            <a:avLst/>
          </a:prstGeom>
          <a:solidFill>
            <a:srgbClr val="5A67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383;p17"/>
          <p:cNvSpPr txBox="1"/>
          <p:nvPr/>
        </p:nvSpPr>
        <p:spPr>
          <a:xfrm>
            <a:off x="1510259" y="4682209"/>
            <a:ext cx="2213844" cy="834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B8C2"/>
              </a:buClr>
              <a:buSzPts val="1600"/>
              <a:buFont typeface="Play"/>
              <a:buNone/>
            </a:pPr>
            <a:endParaRPr b="0" i="0" sz="1600" u="none" cap="none" strike="noStrike">
              <a:solidFill>
                <a:srgbClr val="AFB8C2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18;p3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Фрагментация инструментов замедляет реакцию команд</a:t>
            </a:r>
            <a:endParaRPr/>
          </a:p>
        </p:txBody>
      </p:sp>
      <p:sp>
        <p:nvSpPr>
          <p:cNvPr id="4" name="Google Shape;720;p34"/>
          <p:cNvSpPr txBox="1"/>
          <p:nvPr/>
        </p:nvSpPr>
        <p:spPr>
          <a:xfrm>
            <a:off x="429253" y="1773238"/>
            <a:ext cx="3879511" cy="3166268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0" spcFirstLastPara="1" rIns="121875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70C3FF"/>
                </a:solidFill>
                <a:latin typeface="Play"/>
              </a:rPr>
              <a:t>Инженеры тратят время на переключение между системами, что увеличивает MTTR и снижает эффективность работы.</a:t>
            </a:r>
            <a:endParaRPr sz="1800">
              <a:solidFill>
                <a:srgbClr val="70C3FF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18;p3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Команды используют в среднем 4 разные системы мониторинга</a:t>
            </a:r>
            <a:endParaRPr/>
          </a:p>
        </p:txBody>
      </p:sp>
      <p:sp>
        <p:nvSpPr>
          <p:cNvPr id="4" name="Google Shape;720;p34"/>
          <p:cNvSpPr txBox="1"/>
          <p:nvPr/>
        </p:nvSpPr>
        <p:spPr>
          <a:xfrm>
            <a:off x="429253" y="1773238"/>
            <a:ext cx="3879511" cy="3166268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0" spcFirstLastPara="1" rIns="121875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0" i="0">
                <a:solidFill>
                  <a:srgbClr val="FFFFFF"/>
                </a:solidFill>
                <a:latin typeface="Play"/>
              </a:rPr>
              <a:t>4</a:t>
            </a:r>
            <a:endParaRPr sz="1800">
              <a:solidFill>
                <a:srgbClr val="70C3FF"/>
              </a:solidFill>
              <a:latin typeface="Play"/>
              <a:ea typeface="Play"/>
              <a:cs typeface="Play"/>
              <a:sym typeface="Play"/>
            </a:endParaRPr>
          </a:p>
          <a:p>
            <a:pPr algn="l">
              <a:lnSpc>
                <a:spcPct val="100000"/>
              </a:lnSpc>
            </a:pPr>
            <a:r>
              <a:rPr sz="5400" b="0" i="0">
                <a:solidFill>
                  <a:srgbClr val="FFFFFF"/>
                </a:solidFill>
                <a:latin typeface="Play"/>
              </a:rPr>
              <a:t>Систем на команду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09;p33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Среднее время обнаружения инцидента составляет 42 минуты</a:t>
            </a:r>
            <a:endParaRPr/>
          </a:p>
        </p:txBody>
      </p:sp>
      <p:sp>
        <p:nvSpPr>
          <p:cNvPr id="3" name="Google Shape;710;p33"/>
          <p:cNvSpPr txBox="1"/>
          <p:nvPr/>
        </p:nvSpPr>
        <p:spPr>
          <a:xfrm>
            <a:off x="6316808" y="1243208"/>
            <a:ext cx="4739119" cy="1912853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0" spcFirstLastPara="1" rIns="121875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6000" b="0" i="0">
                <a:solidFill>
                  <a:srgbClr val="FFFFFF"/>
                </a:solidFill>
                <a:latin typeface="Play"/>
              </a:rPr>
              <a:t>42</a:t>
            </a:r>
            <a:endParaRPr sz="1600">
              <a:solidFill>
                <a:srgbClr val="70C3FF"/>
              </a:solidFill>
              <a:latin typeface="Play"/>
              <a:ea typeface="Play"/>
              <a:cs typeface="Play"/>
              <a:sym typeface="Play"/>
            </a:endParaRPr>
          </a:p>
          <a:p>
            <a:pPr algn="l">
              <a:lnSpc>
                <a:spcPct val="100000"/>
              </a:lnSpc>
            </a:pPr>
            <a:r>
              <a:rPr sz="6000" b="0" i="0">
                <a:solidFill>
                  <a:srgbClr val="FFFFFF"/>
                </a:solidFill>
                <a:latin typeface="Play"/>
              </a:rPr>
              <a:t>MTTD (мин)</a:t>
            </a:r>
          </a:p>
        </p:txBody>
      </p:sp>
      <p:sp>
        <p:nvSpPr>
          <p:cNvPr id="4" name="Google Shape;711;p33"/>
          <p:cNvSpPr txBox="1"/>
          <p:nvPr/>
        </p:nvSpPr>
        <p:spPr>
          <a:xfrm>
            <a:off x="6316808" y="3598223"/>
            <a:ext cx="4739119" cy="2589746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0" spcFirstLastPara="1" rIns="12187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None/>
            </a:pPr>
            <a:endParaRPr sz="1800">
              <a:solidFill>
                <a:srgbClr val="70C3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712;p33"/>
          <p:cNvSpPr/>
          <p:nvPr/>
        </p:nvSpPr>
        <p:spPr>
          <a:xfrm>
            <a:off x="431328" y="1243208"/>
            <a:ext cx="3630033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441;p21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Единая платформа консолидирует данные мониторинга</a:t>
            </a:r>
            <a:endParaRPr/>
          </a:p>
        </p:txBody>
      </p:sp>
      <p:sp>
        <p:nvSpPr>
          <p:cNvPr id="7" name="Google Shape;446;p21"/>
          <p:cNvSpPr/>
          <p:nvPr/>
        </p:nvSpPr>
        <p:spPr>
          <a:xfrm>
            <a:off x="5383513" y="2710690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" name="Google Shape;447;p21"/>
          <p:cNvGrpSpPr/>
          <p:nvPr/>
        </p:nvGrpSpPr>
        <p:grpSpPr>
          <a:xfrm>
            <a:off x="5523729" y="2847303"/>
            <a:ext cx="515460" cy="515395"/>
            <a:chOff x="5166883" y="996732"/>
            <a:chExt cx="515460" cy="515395"/>
          </a:xfrm>
        </p:grpSpPr>
        <p:sp>
          <p:nvSpPr>
            <p:cNvPr id="9" name="Google Shape;448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" name="Google Shape;449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" name="TextBox 14"/>
          <p:cNvSpPr txBox="1"/>
          <p:nvPr/>
        </p:nvSpPr>
        <p:spPr>
          <a:xfrm>
            <a:off x="6222069" y="2710690"/>
            <a:ext cx="5079002" cy="17056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E4E7EA"/>
                </a:solidFill>
                <a:latin typeface="Play"/>
              </a:rPr>
              <a:t>Единый интерфейс</a:t>
            </a:r>
          </a:p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E4E7EA"/>
                </a:solidFill>
                <a:latin typeface="Play"/>
              </a:rPr>
              <a:t>Корреляция событий</a:t>
            </a:r>
          </a:p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E4E7EA"/>
                </a:solidFill>
                <a:latin typeface="Play"/>
              </a:rPr>
              <a:t>Автоматическое оповещение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Google Shape;680;p31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Сбор метрик, логов и трейсов в одном потоке</a:t>
            </a:r>
            <a:endParaRPr/>
          </a:p>
        </p:txBody>
      </p:sp>
      <p:sp>
        <p:nvSpPr>
          <p:cNvPr id="5" name="Google Shape;681;p31"/>
          <p:cNvSpPr/>
          <p:nvPr/>
        </p:nvSpPr>
        <p:spPr>
          <a:xfrm>
            <a:off x="427864" y="1837067"/>
            <a:ext cx="3636000" cy="2022006"/>
          </a:xfrm>
          <a:prstGeom prst="roundRect">
            <a:avLst>
              <a:gd fmla="val 632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7200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0" i="0">
                <a:solidFill>
                  <a:srgbClr val="E4E7EA"/>
                </a:solidFill>
                <a:latin typeface="Play"/>
              </a:rPr>
              <a:t>Сбор данных</a:t>
            </a:r>
            <a:endParaRPr/>
          </a:p>
        </p:txBody>
      </p:sp>
      <p:sp>
        <p:nvSpPr>
          <p:cNvPr id="6" name="Google Shape;682;p31"/>
          <p:cNvSpPr/>
          <p:nvPr/>
        </p:nvSpPr>
        <p:spPr>
          <a:xfrm>
            <a:off x="4217594" y="1837067"/>
            <a:ext cx="3636000" cy="2022006"/>
          </a:xfrm>
          <a:prstGeom prst="roundRect">
            <a:avLst>
              <a:gd fmla="val 6871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7200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0" i="0">
                <a:solidFill>
                  <a:srgbClr val="E4E7EA"/>
                </a:solidFill>
                <a:latin typeface="Play"/>
              </a:rPr>
              <a:t>Обработка</a:t>
            </a:r>
            <a:endParaRPr/>
          </a:p>
        </p:txBody>
      </p:sp>
      <p:sp>
        <p:nvSpPr>
          <p:cNvPr id="7" name="Google Shape;683;p31"/>
          <p:cNvSpPr/>
          <p:nvPr/>
        </p:nvSpPr>
        <p:spPr>
          <a:xfrm>
            <a:off x="8007324" y="1837067"/>
            <a:ext cx="3636000" cy="2022006"/>
          </a:xfrm>
          <a:prstGeom prst="roundRect">
            <a:avLst>
              <a:gd fmla="val 5781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7200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0" i="0">
                <a:solidFill>
                  <a:srgbClr val="E4E7EA"/>
                </a:solidFill>
                <a:latin typeface="Play"/>
              </a:rPr>
              <a:t>Визуализация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09;p33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Время обнаружения сократилось с 42 до 9 минут</a:t>
            </a:r>
            <a:endParaRPr/>
          </a:p>
        </p:txBody>
      </p:sp>
      <p:sp>
        <p:nvSpPr>
          <p:cNvPr id="5" name="Google Shape;712;p33"/>
          <p:cNvSpPr/>
          <p:nvPr/>
        </p:nvSpPr>
        <p:spPr>
          <a:xfrm>
            <a:off x="431328" y="1243208"/>
            <a:ext cx="3630033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29484" y="1820863"/>
          <a:ext cx="11330286" cy="445094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547;p26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Пилот в двух командах подтвердил снижение MTTR до 9 минут</a:t>
            </a:r>
            <a:endParaRPr/>
          </a:p>
        </p:txBody>
      </p:sp>
      <p:sp>
        <p:nvSpPr>
          <p:cNvPr id="7" name="Google Shape;552;p26"/>
          <p:cNvSpPr/>
          <p:nvPr/>
        </p:nvSpPr>
        <p:spPr>
          <a:xfrm>
            <a:off x="5383513" y="2710690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0077FF">
              <a:alpha val="30196"/>
            </a:srgbClr>
          </a:solidFill>
          <a:ln>
            <a:noFill/>
          </a:ln>
        </p:spPr>
        <p:txBody>
          <a:bodyPr anchorCtr="0" anchor="t" bIns="0" lIns="108000" spcFirstLastPara="1" rIns="0" wrap="square" tIns="75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" name="Google Shape;553;p26"/>
          <p:cNvGrpSpPr/>
          <p:nvPr/>
        </p:nvGrpSpPr>
        <p:grpSpPr>
          <a:xfrm>
            <a:off x="5523729" y="2847303"/>
            <a:ext cx="515460" cy="515395"/>
            <a:chOff x="5166883" y="996732"/>
            <a:chExt cx="515460" cy="515395"/>
          </a:xfrm>
        </p:grpSpPr>
        <p:sp>
          <p:nvSpPr>
            <p:cNvPr id="9" name="Google Shape;554;p26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" name="Google Shape;555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" name="TextBox 14"/>
          <p:cNvSpPr txBox="1"/>
          <p:nvPr/>
        </p:nvSpPr>
        <p:spPr>
          <a:xfrm>
            <a:off x="6222069" y="2710690"/>
            <a:ext cx="5079002" cy="17056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FFFFFF"/>
                </a:solidFill>
                <a:latin typeface="Play"/>
              </a:rPr>
              <a:t>Две команды</a:t>
            </a:r>
          </a:p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FFFFFF"/>
                </a:solidFill>
                <a:latin typeface="Play"/>
              </a:rPr>
              <a:t>Результат 9 мин</a:t>
            </a:r>
          </a:p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FFFFFF"/>
                </a:solidFill>
                <a:latin typeface="Play"/>
              </a:rPr>
              <a:t>Снижение в 4 раза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09;p33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Единая платформа эффективнее разрозненных инструментов</a:t>
            </a:r>
            <a:endParaRPr/>
          </a:p>
        </p:txBody>
      </p:sp>
      <p:sp>
        <p:nvSpPr>
          <p:cNvPr id="4" name="Google Shape;711;p33"/>
          <p:cNvSpPr txBox="1"/>
          <p:nvPr/>
        </p:nvSpPr>
        <p:spPr>
          <a:xfrm>
            <a:off x="6316808" y="3598223"/>
            <a:ext cx="4739119" cy="2589746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0" spcFirstLastPara="1" rIns="12187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None/>
            </a:pPr>
            <a:endParaRPr sz="1800">
              <a:solidFill>
                <a:srgbClr val="70C3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712;p33"/>
          <p:cNvSpPr/>
          <p:nvPr/>
        </p:nvSpPr>
        <p:spPr>
          <a:xfrm>
            <a:off x="431328" y="1243208"/>
            <a:ext cx="3630033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9484" y="1820863"/>
          <a:ext cx="11330286" cy="2377440"/>
        </p:xfrm>
        <a:graphic>
          <a:graphicData uri="http://schemas.openxmlformats.org/drawingml/2006/table">
            <a:tbl>
              <a:tblPr firstRow="1"/>
              <a:tblGrid>
                <a:gridCol w="3776762"/>
                <a:gridCol w="3776762"/>
                <a:gridCol w="3776762"/>
              </a:tblGrid>
              <a:tr h="79248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Play"/>
                        </a:rPr>
                        <a:t>Показатель</a:t>
                      </a:r>
                    </a:p>
                  </a:txBody>
                  <a:tcPr anchor="ctr"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Play"/>
                        </a:rPr>
                        <a:t>До внедрения</a:t>
                      </a:r>
                    </a:p>
                  </a:txBody>
                  <a:tcPr anchor="ctr"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Play"/>
                        </a:rPr>
                        <a:t>После внедрения</a:t>
                      </a:r>
                    </a:p>
                  </a:txBody>
                  <a:tcPr anchor="ctr">
                    <a:solidFill>
                      <a:srgbClr val="0077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E4E7EA"/>
                          </a:solidFill>
                          <a:latin typeface="Play"/>
                        </a:rPr>
                        <a:t>MTTD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E4E7EA"/>
                          </a:solidFill>
                          <a:latin typeface="Play"/>
                        </a:rPr>
                        <a:t>42 мин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E4E7EA"/>
                          </a:solidFill>
                          <a:latin typeface="Play"/>
                        </a:rPr>
                        <a:t>9 мин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E4E7EA"/>
                          </a:solidFill>
                          <a:latin typeface="Play"/>
                        </a:rPr>
                        <a:t>Инструменты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E4E7EA"/>
                          </a:solidFill>
                          <a:latin typeface="Play"/>
                        </a:rPr>
                        <a:t>4 системы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E4E7EA"/>
                          </a:solidFill>
                          <a:latin typeface="Play"/>
                        </a:rPr>
                        <a:t>1 платформа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459;p2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План пилотного проекта: 3 месяца внедрения</a:t>
            </a:r>
            <a:endParaRPr/>
          </a:p>
        </p:txBody>
      </p:sp>
      <p:sp>
        <p:nvSpPr>
          <p:cNvPr id="3" name="Google Shape;460;p22"/>
          <p:cNvSpPr/>
          <p:nvPr/>
        </p:nvSpPr>
        <p:spPr>
          <a:xfrm>
            <a:off x="7729481" y="1666499"/>
            <a:ext cx="3420000" cy="3525002"/>
          </a:xfrm>
          <a:prstGeom prst="roundRect">
            <a:avLst>
              <a:gd fmla="val 4432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461;p22"/>
          <p:cNvSpPr/>
          <p:nvPr/>
        </p:nvSpPr>
        <p:spPr>
          <a:xfrm>
            <a:off x="4056891" y="1666499"/>
            <a:ext cx="3420000" cy="3525002"/>
          </a:xfrm>
          <a:prstGeom prst="roundRect">
            <a:avLst>
              <a:gd fmla="val 4027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462;p22"/>
          <p:cNvSpPr/>
          <p:nvPr/>
        </p:nvSpPr>
        <p:spPr>
          <a:xfrm>
            <a:off x="415687" y="1666499"/>
            <a:ext cx="3420000" cy="3525002"/>
          </a:xfrm>
          <a:prstGeom prst="roundRect">
            <a:avLst>
              <a:gd fmla="val 4432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463;p22"/>
          <p:cNvSpPr txBox="1"/>
          <p:nvPr/>
        </p:nvSpPr>
        <p:spPr>
          <a:xfrm>
            <a:off x="596659" y="3258988"/>
            <a:ext cx="3057144" cy="193251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0" i="0">
                <a:solidFill>
                  <a:srgbClr val="E4E7EA"/>
                </a:solidFill>
                <a:latin typeface="Play"/>
              </a:rPr>
              <a:t>Подготовка</a:t>
            </a:r>
            <a:endParaRPr/>
          </a:p>
        </p:txBody>
      </p:sp>
      <p:pic>
        <p:nvPicPr>
          <p:cNvPr id="7" name="Google Shape;46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6658" y="288807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465;p22"/>
          <p:cNvSpPr txBox="1"/>
          <p:nvPr/>
        </p:nvSpPr>
        <p:spPr>
          <a:xfrm>
            <a:off x="4240405" y="3258988"/>
            <a:ext cx="3057144" cy="193251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0" i="0">
                <a:solidFill>
                  <a:srgbClr val="E4E7EA"/>
                </a:solidFill>
                <a:latin typeface="Play"/>
              </a:rPr>
              <a:t>Запуск пилота</a:t>
            </a:r>
            <a:endParaRPr/>
          </a:p>
        </p:txBody>
      </p:sp>
      <p:pic>
        <p:nvPicPr>
          <p:cNvPr id="9" name="Google Shape;466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40404" y="288807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467;p22"/>
          <p:cNvSpPr txBox="1"/>
          <p:nvPr/>
        </p:nvSpPr>
        <p:spPr>
          <a:xfrm>
            <a:off x="7911859" y="3258988"/>
            <a:ext cx="3057144" cy="193251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0" i="0">
                <a:solidFill>
                  <a:srgbClr val="E4E7EA"/>
                </a:solidFill>
                <a:latin typeface="Play"/>
              </a:rPr>
              <a:t>Анализ результатов</a:t>
            </a:r>
            <a:endParaRPr/>
          </a:p>
        </p:txBody>
      </p:sp>
      <p:pic>
        <p:nvPicPr>
          <p:cNvPr id="11" name="Google Shape;468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11858" y="2888071"/>
            <a:ext cx="2667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691;p32"/>
          <p:cNvSpPr/>
          <p:nvPr/>
        </p:nvSpPr>
        <p:spPr>
          <a:xfrm>
            <a:off x="427866" y="1971330"/>
            <a:ext cx="3435150" cy="3443958"/>
          </a:xfrm>
          <a:prstGeom prst="roundRect">
            <a:avLst>
              <a:gd fmla="val 5112" name="adj"/>
            </a:avLst>
          </a:prstGeom>
          <a:solidFill>
            <a:srgbClr val="000000">
              <a:alpha val="29804"/>
            </a:srgbClr>
          </a:solidFill>
          <a:ln cap="flat" cmpd="sng" w="9525">
            <a:solidFill>
              <a:srgbClr val="70C3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692;p32"/>
          <p:cNvSpPr/>
          <p:nvPr/>
        </p:nvSpPr>
        <p:spPr>
          <a:xfrm>
            <a:off x="427866" y="1971329"/>
            <a:ext cx="3435150" cy="732775"/>
          </a:xfrm>
          <a:prstGeom prst="round2SameRect">
            <a:avLst>
              <a:gd fmla="val 17490" name="adj1"/>
              <a:gd fmla="val 0" name="adj2"/>
            </a:avLst>
          </a:prstGeom>
          <a:gradFill>
            <a:gsLst>
              <a:gs pos="0">
                <a:srgbClr val="00AEE8"/>
              </a:gs>
              <a:gs pos="100000">
                <a:srgbClr val="0077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693;p32"/>
          <p:cNvSpPr/>
          <p:nvPr/>
        </p:nvSpPr>
        <p:spPr>
          <a:xfrm>
            <a:off x="590229" y="2182506"/>
            <a:ext cx="3129499" cy="15211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FFFFFF"/>
                </a:solidFill>
                <a:latin typeface="Play"/>
              </a:rPr>
              <a:t>Предлагаем начать пилотный проект для оценки эффективности платформы.</a:t>
            </a:r>
            <a:endParaRPr/>
          </a:p>
        </p:txBody>
      </p:sp>
      <p:sp>
        <p:nvSpPr>
          <p:cNvPr id="6" name="Google Shape;694;p32"/>
          <p:cNvSpPr/>
          <p:nvPr/>
        </p:nvSpPr>
        <p:spPr>
          <a:xfrm>
            <a:off x="590229" y="2841868"/>
            <a:ext cx="3129499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6800" lvl="2" marL="136800" marR="0" rtl="0" algn="l">
              <a:spcBef>
                <a:spcPts val="0"/>
              </a:spcBef>
              <a:spcAft>
                <a:spcPts val="0"/>
              </a:spcAft>
              <a:buClr>
                <a:srgbClr val="70C3FF"/>
              </a:buClr>
              <a:buSzPts val="1200"/>
              <a:buFont typeface="Arial"/>
              <a:buChar char="•"/>
            </a:pPr>
            <a:endParaRPr/>
          </a:p>
        </p:txBody>
      </p:sp>
      <p:sp>
        <p:nvSpPr>
          <p:cNvPr id="15" name="Google Shape;703;p3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Запуск пилота в двух командах для проверки гипотезы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880;p4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</a:pPr>
            <a:r>
              <a:rPr sz="4800" b="1" i="0">
                <a:solidFill>
                  <a:srgbClr val="FFFFFF"/>
                </a:solidFill>
                <a:latin typeface="Play"/>
              </a:rPr>
              <a:t>Готовы обсудить детали пилотного проекта</a:t>
            </a:r>
            <a:endParaRPr/>
          </a:p>
        </p:txBody>
      </p:sp>
      <p:sp>
        <p:nvSpPr>
          <p:cNvPr id="3" name="Google Shape;881;p45"/>
          <p:cNvSpPr/>
          <p:nvPr/>
        </p:nvSpPr>
        <p:spPr>
          <a:xfrm>
            <a:off x="429254" y="4567907"/>
            <a:ext cx="834282" cy="834282"/>
          </a:xfrm>
          <a:prstGeom prst="ellipse">
            <a:avLst/>
          </a:prstGeom>
          <a:solidFill>
            <a:srgbClr val="5A67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882;p45"/>
          <p:cNvSpPr txBox="1"/>
          <p:nvPr/>
        </p:nvSpPr>
        <p:spPr>
          <a:xfrm>
            <a:off x="1510259" y="4567906"/>
            <a:ext cx="2213844" cy="834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B8C2"/>
              </a:buClr>
              <a:buSzPts val="1600"/>
              <a:buFont typeface="Play"/>
              <a:buNone/>
            </a:pPr>
            <a:endParaRPr b="0" i="0" sz="1600">
              <a:solidFill>
                <a:srgbClr val="AFB8C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883;p45"/>
          <p:cNvSpPr/>
          <p:nvPr/>
        </p:nvSpPr>
        <p:spPr>
          <a:xfrm>
            <a:off x="3499026" y="4567907"/>
            <a:ext cx="834282" cy="834282"/>
          </a:xfrm>
          <a:prstGeom prst="ellipse">
            <a:avLst/>
          </a:prstGeom>
          <a:solidFill>
            <a:srgbClr val="5A67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884;p45"/>
          <p:cNvSpPr txBox="1"/>
          <p:nvPr/>
        </p:nvSpPr>
        <p:spPr>
          <a:xfrm>
            <a:off x="4580031" y="4567906"/>
            <a:ext cx="2213844" cy="834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B8C2"/>
              </a:buClr>
              <a:buSzPts val="1600"/>
              <a:buFont typeface="Play"/>
              <a:buNone/>
            </a:pPr>
            <a:endParaRPr b="0" i="0" sz="1600">
              <a:solidFill>
                <a:srgbClr val="AFB8C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" name="Google Shape;885;p45"/>
          <p:cNvSpPr/>
          <p:nvPr/>
        </p:nvSpPr>
        <p:spPr>
          <a:xfrm>
            <a:off x="9282341" y="633414"/>
            <a:ext cx="2501672" cy="2501672"/>
          </a:xfrm>
          <a:prstGeom prst="roundRect">
            <a:avLst>
              <a:gd fmla="val 132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