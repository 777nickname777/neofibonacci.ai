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Среднее время обнаружения инцидента составляет 42 минуты. Это критично для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Команды используют в среднем 4 разные системы мониторинга, что создает информационный шум.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ходе пилота в двух командах время обнаружения инцидента сократилось с 42 до 9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Улучшение происходило постепенно: в первый месяц время сократилось вдвое, во второй — до целевых 9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9.png"/><Relationship Id="rId3" Type="http://schemas.openxmlformats.org/officeDocument/2006/relationships/image" Target="../media/image147.png"/><Relationship Id="rId4" Type="http://schemas.openxmlformats.org/officeDocument/2006/relationships/image" Target="../media/image151.png"/><Relationship Id="rId5" Type="http://schemas.openxmlformats.org/officeDocument/2006/relationships/image" Target="../media/image146.png"/><Relationship Id="rId6" Type="http://schemas.openxmlformats.org/officeDocument/2006/relationships/image" Target="../media/image40.png"/><Relationship Id="rId7" Type="http://schemas.openxmlformats.org/officeDocument/2006/relationships/image" Target="../media/image26.png"/><Relationship Id="rId8" Type="http://schemas.openxmlformats.org/officeDocument/2006/relationships/chart" Target="../charts/chart1.xml"/><Relationship Id="rId9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72.png"/><Relationship Id="rId8" Type="http://schemas.openxmlformats.org/officeDocument/2006/relationships/image" Target="../media/image57.png"/><Relationship Id="rId9" Type="http://schemas.openxmlformats.org/officeDocument/2006/relationships/chart" Target="../charts/chart2.xml"/><Relationship Id="rId10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000" b="1" i="0">
                <a:solidFill>
                  <a:srgbClr val="FAFCFF"/>
                </a:solidFill>
                <a:latin typeface="Play"/>
              </a:rPr>
              <a:t>Платформа наблюдаемости для инженерных команд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Проблема фрагментации инструментов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Решение: единая платформа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78;p55"/>
          <p:cNvSpPr/>
          <p:nvPr/>
        </p:nvSpPr>
        <p:spPr>
          <a:xfrm>
            <a:off x="4772001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Результаты пилотного проекта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683;p55"/>
          <p:cNvSpPr/>
          <p:nvPr/>
        </p:nvSpPr>
        <p:spPr>
          <a:xfrm>
            <a:off x="6938927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План запуска пилота в вашей команде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Повестка презентации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42 минуты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1688" b="0" i="0">
                <a:solidFill>
                  <a:srgbClr val="000000"/>
                </a:solidFill>
                <a:latin typeface="Play"/>
              </a:rPr>
              <a:t>MTTD</a:t>
            </a: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Высокое время обнаружения увеличивает простой сервисов и нагрузку на инженеров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Инциденты обнаруживаются слишком медленно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4 системы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1688" b="0" i="0">
                <a:solidFill>
                  <a:srgbClr val="000000"/>
                </a:solidFill>
                <a:latin typeface="Play"/>
              </a:rPr>
              <a:t>Систем мониторинга</a:t>
            </a: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Фрагментация данных усложняет диагностику и требует контекстного переключения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Инженеры тратят время на переключение между системами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14;p5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15;p5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16;p59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17;p59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18;p59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19;p59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20;p59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21;p59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22;p59"/>
          <p:cNvSpPr/>
          <p:nvPr/>
        </p:nvSpPr>
        <p:spPr>
          <a:xfrm>
            <a:off x="3174990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23;p59"/>
          <p:cNvSpPr/>
          <p:nvPr/>
        </p:nvSpPr>
        <p:spPr>
          <a:xfrm>
            <a:off x="3327389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24;p59"/>
          <p:cNvSpPr/>
          <p:nvPr/>
        </p:nvSpPr>
        <p:spPr>
          <a:xfrm>
            <a:off x="3327389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5;p59"/>
          <p:cNvSpPr/>
          <p:nvPr/>
        </p:nvSpPr>
        <p:spPr>
          <a:xfrm>
            <a:off x="3327389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Устранение необходимости переключаться между системами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26;p59"/>
          <p:cNvSpPr/>
          <p:nvPr/>
        </p:nvSpPr>
        <p:spPr>
          <a:xfrm>
            <a:off x="3327389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27;p59"/>
          <p:cNvSpPr/>
          <p:nvPr/>
        </p:nvSpPr>
        <p:spPr>
          <a:xfrm>
            <a:off x="6064213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28;p59"/>
          <p:cNvSpPr/>
          <p:nvPr/>
        </p:nvSpPr>
        <p:spPr>
          <a:xfrm>
            <a:off x="6216612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9;p59"/>
          <p:cNvSpPr/>
          <p:nvPr/>
        </p:nvSpPr>
        <p:spPr>
          <a:xfrm>
            <a:off x="621661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830;p59"/>
          <p:cNvSpPr/>
          <p:nvPr/>
        </p:nvSpPr>
        <p:spPr>
          <a:xfrm>
            <a:off x="6216612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Единый источник истины для всех команд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31;p59"/>
          <p:cNvSpPr/>
          <p:nvPr/>
        </p:nvSpPr>
        <p:spPr>
          <a:xfrm>
            <a:off x="6216612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32;p59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33;p59"/>
          <p:cNvSpPr/>
          <p:nvPr/>
        </p:nvSpPr>
        <p:spPr>
          <a:xfrm>
            <a:off x="285749" y="2883653"/>
            <a:ext cx="2794001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834;p59"/>
          <p:cNvSpPr/>
          <p:nvPr/>
        </p:nvSpPr>
        <p:spPr>
          <a:xfrm>
            <a:off x="438148" y="3036033"/>
            <a:ext cx="2489203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835;p59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836;p59"/>
          <p:cNvSpPr/>
          <p:nvPr/>
        </p:nvSpPr>
        <p:spPr>
          <a:xfrm>
            <a:off x="438148" y="3264604"/>
            <a:ext cx="2540003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Агрегация метрик, логов и трейсов в одном окне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37;p59"/>
          <p:cNvSpPr/>
          <p:nvPr/>
        </p:nvSpPr>
        <p:spPr>
          <a:xfrm>
            <a:off x="438148" y="3493174"/>
            <a:ext cx="252730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Единая платформа заменяет разрозненные инструменты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55;p60"/>
          <p:cNvSpPr/>
          <p:nvPr/>
        </p:nvSpPr>
        <p:spPr>
          <a:xfrm>
            <a:off x="438148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56;p60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57;p60"/>
          <p:cNvSpPr/>
          <p:nvPr/>
        </p:nvSpPr>
        <p:spPr>
          <a:xfrm>
            <a:off x="438148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Сбор данных из всех источников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59;p60"/>
          <p:cNvSpPr/>
          <p:nvPr/>
        </p:nvSpPr>
        <p:spPr>
          <a:xfrm>
            <a:off x="3809980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60;p60"/>
          <p:cNvSpPr/>
          <p:nvPr/>
        </p:nvSpPr>
        <p:spPr>
          <a:xfrm>
            <a:off x="380998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61;p60"/>
          <p:cNvSpPr/>
          <p:nvPr/>
        </p:nvSpPr>
        <p:spPr>
          <a:xfrm>
            <a:off x="3809980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Корреляция событий в реальном времени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864;p60"/>
          <p:cNvSpPr/>
          <p:nvPr/>
        </p:nvSpPr>
        <p:spPr>
          <a:xfrm>
            <a:off x="438148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65;p60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66;p60"/>
          <p:cNvSpPr/>
          <p:nvPr/>
        </p:nvSpPr>
        <p:spPr>
          <a:xfrm>
            <a:off x="438148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Автоматическое оповещение о проблемах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68;p60"/>
          <p:cNvSpPr/>
          <p:nvPr/>
        </p:nvSpPr>
        <p:spPr>
          <a:xfrm>
            <a:off x="3809980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869;p60"/>
          <p:cNvSpPr/>
          <p:nvPr/>
        </p:nvSpPr>
        <p:spPr>
          <a:xfrm>
            <a:off x="380998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70;p60"/>
          <p:cNvSpPr/>
          <p:nvPr/>
        </p:nvSpPr>
        <p:spPr>
          <a:xfrm>
            <a:off x="3809980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Визуализация для быстрого анализа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Как работает платформа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2372;p8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Пилот показал сокращение времени обнаружения</a:t>
            </a:r>
            <a:endParaRPr/>
          </a:p>
        </p:txBody>
      </p:sp>
      <p:sp>
        <p:nvSpPr>
          <p:cNvPr id="21" name="Google Shape;2374;p87"/>
          <p:cNvSpPr txBox="1"/>
          <p:nvPr/>
        </p:nvSpPr>
        <p:spPr>
          <a:xfrm>
            <a:off x="7099707" y="671777"/>
            <a:ext cx="2044293" cy="5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2379;p87"/>
          <p:cNvSpPr/>
          <p:nvPr/>
        </p:nvSpPr>
        <p:spPr>
          <a:xfrm>
            <a:off x="7099707" y="890962"/>
            <a:ext cx="629150" cy="230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1017;p6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Динамика улучшения показателей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59;p66"/>
          <p:cNvSpPr/>
          <p:nvPr/>
        </p:nvSpPr>
        <p:spPr>
          <a:xfrm>
            <a:off x="4048160" y="486418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Результаты подтверждены в двух пилотных командах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63;p66"/>
          <p:cNvSpPr/>
          <p:nvPr/>
        </p:nvSpPr>
        <p:spPr>
          <a:xfrm>
            <a:off x="4048160" y="1672317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Методология внедрения стандартизирована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067;p66"/>
          <p:cNvSpPr/>
          <p:nvPr/>
        </p:nvSpPr>
        <p:spPr>
          <a:xfrm>
            <a:off x="4048160" y="2858216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Готовность к расширению на другие департаменты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Эффект масштабируется на все команды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80;p58"/>
          <p:cNvSpPr/>
          <p:nvPr/>
        </p:nvSpPr>
        <p:spPr>
          <a:xfrm>
            <a:off x="438148" y="1590803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Выбор пилотной команды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85;p58"/>
          <p:cNvSpPr/>
          <p:nvPr/>
        </p:nvSpPr>
        <p:spPr>
          <a:xfrm>
            <a:off x="3327380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Настройка интеграций за 1 неделю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90;p58"/>
          <p:cNvSpPr/>
          <p:nvPr/>
        </p:nvSpPr>
        <p:spPr>
          <a:xfrm>
            <a:off x="6216621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Запуск мониторинга и обучение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793;p58"/>
          <p:cNvSpPr/>
          <p:nvPr/>
        </p:nvSpPr>
        <p:spPr>
          <a:xfrm>
            <a:off x="285749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794;p58"/>
          <p:cNvSpPr/>
          <p:nvPr/>
        </p:nvSpPr>
        <p:spPr>
          <a:xfrm>
            <a:off x="438148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795;p58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796;p58"/>
          <p:cNvSpPr/>
          <p:nvPr/>
        </p:nvSpPr>
        <p:spPr>
          <a:xfrm>
            <a:off x="438148" y="3264604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Оценка результатов через 2 месяца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797;p58"/>
          <p:cNvSpPr/>
          <p:nvPr/>
        </p:nvSpPr>
        <p:spPr>
          <a:xfrm>
            <a:off x="438148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Запустите пилот для оценки эффекта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sz="3200" b="1" i="0">
                <a:solidFill>
                  <a:srgbClr val="000000"/>
                </a:solidFill>
                <a:latin typeface="Play"/>
              </a:rPr>
              <a:t>Готовы начать пилот?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